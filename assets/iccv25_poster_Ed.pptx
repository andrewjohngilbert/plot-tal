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7" r:id="rId2"/>
  </p:sldIdLst>
  <p:sldSz cx="43891200" cy="21945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C4E5"/>
    <a:srgbClr val="4085EA"/>
    <a:srgbClr val="B22F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437" y="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1" name="PlaceHolder 1"/>
          <p:cNvSpPr>
            <a:spLocks noGrp="1" noRot="1" noChangeAspect="1"/>
          </p:cNvSpPr>
          <p:nvPr>
            <p:ph type="sldImg"/>
          </p:nvPr>
        </p:nvSpPr>
        <p:spPr>
          <a:xfrm>
            <a:off x="533520" y="764280"/>
            <a:ext cx="6704640" cy="3771360"/>
          </a:xfrm>
          <a:prstGeom prst="rect">
            <a:avLst/>
          </a:prstGeom>
        </p:spPr>
        <p:txBody>
          <a:bodyPr lIns="0" tIns="0" rIns="0" bIns="0" anchor="ctr">
            <a:noAutofit/>
          </a:bodyPr>
          <a:lstStyle/>
          <a:p>
            <a:r>
              <a:rPr lang="en-US" sz="5860" b="0" strike="noStrike" spc="-1">
                <a:solidFill>
                  <a:srgbClr val="000000"/>
                </a:solidFill>
                <a:latin typeface="Arial"/>
              </a:rPr>
              <a:t>Click to move the slide</a:t>
            </a:r>
          </a:p>
        </p:txBody>
      </p:sp>
      <p:sp>
        <p:nvSpPr>
          <p:cNvPr id="42" name="PlaceHolder 2"/>
          <p:cNvSpPr>
            <a:spLocks noGrp="1"/>
          </p:cNvSpPr>
          <p:nvPr>
            <p:ph type="body"/>
          </p:nvPr>
        </p:nvSpPr>
        <p:spPr>
          <a:xfrm>
            <a:off x="777240" y="4777560"/>
            <a:ext cx="6217560" cy="4525920"/>
          </a:xfrm>
          <a:prstGeom prst="rect">
            <a:avLst/>
          </a:prstGeom>
        </p:spPr>
        <p:txBody>
          <a:bodyPr lIns="0" tIns="0" rIns="0" bIns="0">
            <a:noAutofit/>
          </a:bodyPr>
          <a:lstStyle/>
          <a:p>
            <a:r>
              <a:rPr lang="en-US" sz="2000" b="0" strike="noStrike" spc="-1">
                <a:latin typeface="Arial"/>
              </a:rPr>
              <a:t>Click to edit the notes format</a:t>
            </a:r>
          </a:p>
        </p:txBody>
      </p:sp>
      <p:sp>
        <p:nvSpPr>
          <p:cNvPr id="43" name="PlaceHolder 3"/>
          <p:cNvSpPr>
            <a:spLocks noGrp="1"/>
          </p:cNvSpPr>
          <p:nvPr>
            <p:ph type="hdr"/>
          </p:nvPr>
        </p:nvSpPr>
        <p:spPr>
          <a:xfrm>
            <a:off x="0" y="0"/>
            <a:ext cx="3372840" cy="502560"/>
          </a:xfrm>
          <a:prstGeom prst="rect">
            <a:avLst/>
          </a:prstGeom>
        </p:spPr>
        <p:txBody>
          <a:bodyPr lIns="0" tIns="0" rIns="0" bIns="0">
            <a:noAutofit/>
          </a:bodyPr>
          <a:lstStyle/>
          <a:p>
            <a:r>
              <a:rPr lang="en-US" sz="1400" b="0" strike="noStrike" spc="-1">
                <a:latin typeface="Times New Roman"/>
              </a:rPr>
              <a:t>&lt;header&gt;</a:t>
            </a:r>
          </a:p>
        </p:txBody>
      </p:sp>
      <p:sp>
        <p:nvSpPr>
          <p:cNvPr id="44" name="PlaceHolder 4"/>
          <p:cNvSpPr>
            <a:spLocks noGrp="1"/>
          </p:cNvSpPr>
          <p:nvPr>
            <p:ph type="dt"/>
          </p:nvPr>
        </p:nvSpPr>
        <p:spPr>
          <a:xfrm>
            <a:off x="4399200" y="0"/>
            <a:ext cx="3372840" cy="502560"/>
          </a:xfrm>
          <a:prstGeom prst="rect">
            <a:avLst/>
          </a:prstGeom>
        </p:spPr>
        <p:txBody>
          <a:bodyPr lIns="0" tIns="0" rIns="0" bIns="0">
            <a:noAutofit/>
          </a:bodyPr>
          <a:lstStyle/>
          <a:p>
            <a:pPr algn="r"/>
            <a:r>
              <a:rPr lang="en-US" sz="1400" b="0" strike="noStrike" spc="-1">
                <a:latin typeface="Times New Roman"/>
              </a:rPr>
              <a:t>&lt;date/time&gt;</a:t>
            </a:r>
          </a:p>
        </p:txBody>
      </p:sp>
      <p:sp>
        <p:nvSpPr>
          <p:cNvPr id="45" name="PlaceHolder 5"/>
          <p:cNvSpPr>
            <a:spLocks noGrp="1"/>
          </p:cNvSpPr>
          <p:nvPr>
            <p:ph type="ftr"/>
          </p:nvPr>
        </p:nvSpPr>
        <p:spPr>
          <a:xfrm>
            <a:off x="0" y="9555480"/>
            <a:ext cx="3372840" cy="502560"/>
          </a:xfrm>
          <a:prstGeom prst="rect">
            <a:avLst/>
          </a:prstGeom>
        </p:spPr>
        <p:txBody>
          <a:bodyPr lIns="0" tIns="0" rIns="0" bIns="0" anchor="b">
            <a:noAutofit/>
          </a:bodyPr>
          <a:lstStyle/>
          <a:p>
            <a:r>
              <a:rPr lang="en-US" sz="1400" b="0" strike="noStrike" spc="-1">
                <a:latin typeface="Times New Roman"/>
              </a:rPr>
              <a:t>&lt;footer&gt;</a:t>
            </a:r>
          </a:p>
        </p:txBody>
      </p:sp>
      <p:sp>
        <p:nvSpPr>
          <p:cNvPr id="46" name="PlaceHolder 6"/>
          <p:cNvSpPr>
            <a:spLocks noGrp="1"/>
          </p:cNvSpPr>
          <p:nvPr>
            <p:ph type="sldNum"/>
          </p:nvPr>
        </p:nvSpPr>
        <p:spPr>
          <a:xfrm>
            <a:off x="4399200" y="9555480"/>
            <a:ext cx="3372840" cy="502560"/>
          </a:xfrm>
          <a:prstGeom prst="rect">
            <a:avLst/>
          </a:prstGeom>
        </p:spPr>
        <p:txBody>
          <a:bodyPr lIns="0" tIns="0" rIns="0" bIns="0" anchor="b">
            <a:noAutofit/>
          </a:bodyPr>
          <a:lstStyle/>
          <a:p>
            <a:pPr algn="r"/>
            <a:fld id="{924770EC-B5C9-452E-86AE-6AAC76C5DAD9}"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7640280" y="410040"/>
            <a:ext cx="28128240" cy="2168640"/>
          </a:xfrm>
          <a:prstGeom prst="rect">
            <a:avLst/>
          </a:prstGeom>
        </p:spPr>
        <p:txBody>
          <a:bodyPr lIns="0" tIns="0" rIns="0" bIns="0" anchor="ctr">
            <a:noAutofit/>
          </a:bodyPr>
          <a:lstStyle/>
          <a:p>
            <a:endParaRPr lang="en-US" sz="5860" b="0" strike="noStrike" spc="-1">
              <a:solidFill>
                <a:srgbClr val="000000"/>
              </a:solidFill>
              <a:latin typeface="Arial"/>
            </a:endParaRPr>
          </a:p>
        </p:txBody>
      </p:sp>
      <p:sp>
        <p:nvSpPr>
          <p:cNvPr id="6" name="PlaceHolder 2"/>
          <p:cNvSpPr>
            <a:spLocks noGrp="1"/>
          </p:cNvSpPr>
          <p:nvPr>
            <p:ph type="subTitle"/>
          </p:nvPr>
        </p:nvSpPr>
        <p:spPr>
          <a:xfrm>
            <a:off x="380880" y="3135240"/>
            <a:ext cx="13700520" cy="182005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7640280" y="410040"/>
            <a:ext cx="28128240" cy="2168640"/>
          </a:xfrm>
          <a:prstGeom prst="rect">
            <a:avLst/>
          </a:prstGeom>
        </p:spPr>
        <p:txBody>
          <a:bodyPr lIns="0" tIns="0" rIns="0" bIns="0" anchor="ctr">
            <a:noAutofit/>
          </a:bodyPr>
          <a:lstStyle/>
          <a:p>
            <a:endParaRPr lang="en-US" sz="5860" b="0" strike="noStrike" spc="-1">
              <a:solidFill>
                <a:srgbClr val="000000"/>
              </a:solidFill>
              <a:latin typeface="Arial"/>
            </a:endParaRPr>
          </a:p>
        </p:txBody>
      </p:sp>
      <p:sp>
        <p:nvSpPr>
          <p:cNvPr id="8" name="PlaceHolder 2"/>
          <p:cNvSpPr>
            <a:spLocks noGrp="1"/>
          </p:cNvSpPr>
          <p:nvPr>
            <p:ph type="body"/>
          </p:nvPr>
        </p:nvSpPr>
        <p:spPr>
          <a:xfrm>
            <a:off x="380880" y="3135240"/>
            <a:ext cx="13700520" cy="18200520"/>
          </a:xfrm>
          <a:prstGeom prst="rect">
            <a:avLst/>
          </a:prstGeom>
        </p:spPr>
        <p:txBody>
          <a:bodyPr lIns="0" tIns="0" rIns="0" bIns="0">
            <a:normAutofit/>
          </a:bodyPr>
          <a:lstStyle/>
          <a:p>
            <a:endParaRPr lang="en-US" sz="10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7640280" y="410040"/>
            <a:ext cx="28128240" cy="2168640"/>
          </a:xfrm>
          <a:prstGeom prst="rect">
            <a:avLst/>
          </a:prstGeom>
        </p:spPr>
        <p:txBody>
          <a:bodyPr lIns="0" tIns="0" rIns="0" bIns="0" anchor="ctr">
            <a:noAutofit/>
          </a:bodyPr>
          <a:lstStyle/>
          <a:p>
            <a:endParaRPr lang="en-US" sz="5860" b="0" strike="noStrike" spc="-1">
              <a:solidFill>
                <a:srgbClr val="000000"/>
              </a:solidFill>
              <a:latin typeface="Arial"/>
            </a:endParaRPr>
          </a:p>
        </p:txBody>
      </p:sp>
      <p:sp>
        <p:nvSpPr>
          <p:cNvPr id="10" name="PlaceHolder 2"/>
          <p:cNvSpPr>
            <a:spLocks noGrp="1"/>
          </p:cNvSpPr>
          <p:nvPr>
            <p:ph type="body"/>
          </p:nvPr>
        </p:nvSpPr>
        <p:spPr>
          <a:xfrm>
            <a:off x="380880" y="3135240"/>
            <a:ext cx="6685560" cy="1820052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11" name="PlaceHolder 3"/>
          <p:cNvSpPr>
            <a:spLocks noGrp="1"/>
          </p:cNvSpPr>
          <p:nvPr>
            <p:ph type="body"/>
          </p:nvPr>
        </p:nvSpPr>
        <p:spPr>
          <a:xfrm>
            <a:off x="7401240" y="3135240"/>
            <a:ext cx="6685560" cy="18200520"/>
          </a:xfrm>
          <a:prstGeom prst="rect">
            <a:avLst/>
          </a:prstGeom>
        </p:spPr>
        <p:txBody>
          <a:bodyPr lIns="0" tIns="0" rIns="0" bIns="0">
            <a:normAutofit/>
          </a:bodyPr>
          <a:lstStyle/>
          <a:p>
            <a:endParaRPr lang="en-US" sz="10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7640280" y="410040"/>
            <a:ext cx="28128240" cy="2168640"/>
          </a:xfrm>
          <a:prstGeom prst="rect">
            <a:avLst/>
          </a:prstGeom>
        </p:spPr>
        <p:txBody>
          <a:bodyPr lIns="0" tIns="0" rIns="0" bIns="0" anchor="ctr">
            <a:noAutofit/>
          </a:bodyPr>
          <a:lstStyle/>
          <a:p>
            <a:endParaRPr lang="en-US" sz="586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7640280" y="410040"/>
            <a:ext cx="28128240" cy="100537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7640280" y="410040"/>
            <a:ext cx="28128240" cy="2168640"/>
          </a:xfrm>
          <a:prstGeom prst="rect">
            <a:avLst/>
          </a:prstGeom>
        </p:spPr>
        <p:txBody>
          <a:bodyPr lIns="0" tIns="0" rIns="0" bIns="0" anchor="ctr">
            <a:noAutofit/>
          </a:bodyPr>
          <a:lstStyle/>
          <a:p>
            <a:endParaRPr lang="en-US" sz="5860" b="0" strike="noStrike" spc="-1">
              <a:solidFill>
                <a:srgbClr val="000000"/>
              </a:solidFill>
              <a:latin typeface="Arial"/>
            </a:endParaRPr>
          </a:p>
        </p:txBody>
      </p:sp>
      <p:sp>
        <p:nvSpPr>
          <p:cNvPr id="15" name="PlaceHolder 2"/>
          <p:cNvSpPr>
            <a:spLocks noGrp="1"/>
          </p:cNvSpPr>
          <p:nvPr>
            <p:ph type="body"/>
          </p:nvPr>
        </p:nvSpPr>
        <p:spPr>
          <a:xfrm>
            <a:off x="380880" y="3135240"/>
            <a:ext cx="668556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16" name="PlaceHolder 3"/>
          <p:cNvSpPr>
            <a:spLocks noGrp="1"/>
          </p:cNvSpPr>
          <p:nvPr>
            <p:ph type="body"/>
          </p:nvPr>
        </p:nvSpPr>
        <p:spPr>
          <a:xfrm>
            <a:off x="7401240" y="3135240"/>
            <a:ext cx="6685560" cy="1820052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17" name="PlaceHolder 4"/>
          <p:cNvSpPr>
            <a:spLocks noGrp="1"/>
          </p:cNvSpPr>
          <p:nvPr>
            <p:ph type="body"/>
          </p:nvPr>
        </p:nvSpPr>
        <p:spPr>
          <a:xfrm>
            <a:off x="380880" y="12641760"/>
            <a:ext cx="668556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7640280" y="410040"/>
            <a:ext cx="28128240" cy="2168640"/>
          </a:xfrm>
          <a:prstGeom prst="rect">
            <a:avLst/>
          </a:prstGeom>
        </p:spPr>
        <p:txBody>
          <a:bodyPr lIns="0" tIns="0" rIns="0" bIns="0" anchor="ctr">
            <a:noAutofit/>
          </a:bodyPr>
          <a:lstStyle/>
          <a:p>
            <a:endParaRPr lang="en-US" sz="5860" b="0" strike="noStrike" spc="-1">
              <a:solidFill>
                <a:srgbClr val="000000"/>
              </a:solidFill>
              <a:latin typeface="Arial"/>
            </a:endParaRPr>
          </a:p>
        </p:txBody>
      </p:sp>
      <p:sp>
        <p:nvSpPr>
          <p:cNvPr id="19" name="PlaceHolder 2"/>
          <p:cNvSpPr>
            <a:spLocks noGrp="1"/>
          </p:cNvSpPr>
          <p:nvPr>
            <p:ph type="body"/>
          </p:nvPr>
        </p:nvSpPr>
        <p:spPr>
          <a:xfrm>
            <a:off x="380880" y="3135240"/>
            <a:ext cx="6685560" cy="1820052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20" name="PlaceHolder 3"/>
          <p:cNvSpPr>
            <a:spLocks noGrp="1"/>
          </p:cNvSpPr>
          <p:nvPr>
            <p:ph type="body"/>
          </p:nvPr>
        </p:nvSpPr>
        <p:spPr>
          <a:xfrm>
            <a:off x="7401240" y="3135240"/>
            <a:ext cx="668556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21" name="PlaceHolder 4"/>
          <p:cNvSpPr>
            <a:spLocks noGrp="1"/>
          </p:cNvSpPr>
          <p:nvPr>
            <p:ph type="body"/>
          </p:nvPr>
        </p:nvSpPr>
        <p:spPr>
          <a:xfrm>
            <a:off x="7401240" y="12641760"/>
            <a:ext cx="668556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7640280" y="410040"/>
            <a:ext cx="28128240" cy="2168640"/>
          </a:xfrm>
          <a:prstGeom prst="rect">
            <a:avLst/>
          </a:prstGeom>
        </p:spPr>
        <p:txBody>
          <a:bodyPr lIns="0" tIns="0" rIns="0" bIns="0" anchor="ctr">
            <a:noAutofit/>
          </a:bodyPr>
          <a:lstStyle/>
          <a:p>
            <a:endParaRPr lang="en-US" sz="5860" b="0" strike="noStrike" spc="-1">
              <a:solidFill>
                <a:srgbClr val="000000"/>
              </a:solidFill>
              <a:latin typeface="Arial"/>
            </a:endParaRPr>
          </a:p>
        </p:txBody>
      </p:sp>
      <p:sp>
        <p:nvSpPr>
          <p:cNvPr id="23" name="PlaceHolder 2"/>
          <p:cNvSpPr>
            <a:spLocks noGrp="1"/>
          </p:cNvSpPr>
          <p:nvPr>
            <p:ph type="body"/>
          </p:nvPr>
        </p:nvSpPr>
        <p:spPr>
          <a:xfrm>
            <a:off x="380880" y="3135240"/>
            <a:ext cx="668556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24" name="PlaceHolder 3"/>
          <p:cNvSpPr>
            <a:spLocks noGrp="1"/>
          </p:cNvSpPr>
          <p:nvPr>
            <p:ph type="body"/>
          </p:nvPr>
        </p:nvSpPr>
        <p:spPr>
          <a:xfrm>
            <a:off x="7401240" y="3135240"/>
            <a:ext cx="668556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25" name="PlaceHolder 4"/>
          <p:cNvSpPr>
            <a:spLocks noGrp="1"/>
          </p:cNvSpPr>
          <p:nvPr>
            <p:ph type="body"/>
          </p:nvPr>
        </p:nvSpPr>
        <p:spPr>
          <a:xfrm>
            <a:off x="380880" y="12641760"/>
            <a:ext cx="1370052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7640280" y="410040"/>
            <a:ext cx="28128240" cy="2168640"/>
          </a:xfrm>
          <a:prstGeom prst="rect">
            <a:avLst/>
          </a:prstGeom>
        </p:spPr>
        <p:txBody>
          <a:bodyPr lIns="0" tIns="0" rIns="0" bIns="0" anchor="ctr">
            <a:noAutofit/>
          </a:bodyPr>
          <a:lstStyle/>
          <a:p>
            <a:endParaRPr lang="en-US" sz="5860" b="0" strike="noStrike" spc="-1">
              <a:solidFill>
                <a:srgbClr val="000000"/>
              </a:solidFill>
              <a:latin typeface="Arial"/>
            </a:endParaRPr>
          </a:p>
        </p:txBody>
      </p:sp>
      <p:sp>
        <p:nvSpPr>
          <p:cNvPr id="27" name="PlaceHolder 2"/>
          <p:cNvSpPr>
            <a:spLocks noGrp="1"/>
          </p:cNvSpPr>
          <p:nvPr>
            <p:ph type="body"/>
          </p:nvPr>
        </p:nvSpPr>
        <p:spPr>
          <a:xfrm>
            <a:off x="380880" y="3135240"/>
            <a:ext cx="1370052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28" name="PlaceHolder 3"/>
          <p:cNvSpPr>
            <a:spLocks noGrp="1"/>
          </p:cNvSpPr>
          <p:nvPr>
            <p:ph type="body"/>
          </p:nvPr>
        </p:nvSpPr>
        <p:spPr>
          <a:xfrm>
            <a:off x="380880" y="12641760"/>
            <a:ext cx="1370052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640280" y="410040"/>
            <a:ext cx="28128240" cy="2168640"/>
          </a:xfrm>
          <a:prstGeom prst="rect">
            <a:avLst/>
          </a:prstGeom>
        </p:spPr>
        <p:txBody>
          <a:bodyPr lIns="0" tIns="0" rIns="0" bIns="0" anchor="ctr">
            <a:noAutofit/>
          </a:bodyPr>
          <a:lstStyle/>
          <a:p>
            <a:endParaRPr lang="en-US" sz="5860" b="0" strike="noStrike" spc="-1">
              <a:solidFill>
                <a:srgbClr val="000000"/>
              </a:solidFill>
              <a:latin typeface="Arial"/>
            </a:endParaRPr>
          </a:p>
        </p:txBody>
      </p:sp>
      <p:sp>
        <p:nvSpPr>
          <p:cNvPr id="30" name="PlaceHolder 2"/>
          <p:cNvSpPr>
            <a:spLocks noGrp="1"/>
          </p:cNvSpPr>
          <p:nvPr>
            <p:ph type="body"/>
          </p:nvPr>
        </p:nvSpPr>
        <p:spPr>
          <a:xfrm>
            <a:off x="380880" y="3135240"/>
            <a:ext cx="668556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31" name="PlaceHolder 3"/>
          <p:cNvSpPr>
            <a:spLocks noGrp="1"/>
          </p:cNvSpPr>
          <p:nvPr>
            <p:ph type="body"/>
          </p:nvPr>
        </p:nvSpPr>
        <p:spPr>
          <a:xfrm>
            <a:off x="7401240" y="3135240"/>
            <a:ext cx="668556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32" name="PlaceHolder 4"/>
          <p:cNvSpPr>
            <a:spLocks noGrp="1"/>
          </p:cNvSpPr>
          <p:nvPr>
            <p:ph type="body"/>
          </p:nvPr>
        </p:nvSpPr>
        <p:spPr>
          <a:xfrm>
            <a:off x="380880" y="12641760"/>
            <a:ext cx="668556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33" name="PlaceHolder 5"/>
          <p:cNvSpPr>
            <a:spLocks noGrp="1"/>
          </p:cNvSpPr>
          <p:nvPr>
            <p:ph type="body"/>
          </p:nvPr>
        </p:nvSpPr>
        <p:spPr>
          <a:xfrm>
            <a:off x="7401240" y="12641760"/>
            <a:ext cx="668556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7640280" y="410040"/>
            <a:ext cx="28128240" cy="2168640"/>
          </a:xfrm>
          <a:prstGeom prst="rect">
            <a:avLst/>
          </a:prstGeom>
        </p:spPr>
        <p:txBody>
          <a:bodyPr lIns="0" tIns="0" rIns="0" bIns="0" anchor="ctr">
            <a:noAutofit/>
          </a:bodyPr>
          <a:lstStyle/>
          <a:p>
            <a:endParaRPr lang="en-US" sz="5860" b="0" strike="noStrike" spc="-1">
              <a:solidFill>
                <a:srgbClr val="000000"/>
              </a:solidFill>
              <a:latin typeface="Arial"/>
            </a:endParaRPr>
          </a:p>
        </p:txBody>
      </p:sp>
      <p:sp>
        <p:nvSpPr>
          <p:cNvPr id="35" name="PlaceHolder 2"/>
          <p:cNvSpPr>
            <a:spLocks noGrp="1"/>
          </p:cNvSpPr>
          <p:nvPr>
            <p:ph type="body"/>
          </p:nvPr>
        </p:nvSpPr>
        <p:spPr>
          <a:xfrm>
            <a:off x="380880" y="3135240"/>
            <a:ext cx="441144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36" name="PlaceHolder 3"/>
          <p:cNvSpPr>
            <a:spLocks noGrp="1"/>
          </p:cNvSpPr>
          <p:nvPr>
            <p:ph type="body"/>
          </p:nvPr>
        </p:nvSpPr>
        <p:spPr>
          <a:xfrm>
            <a:off x="5013360" y="3135240"/>
            <a:ext cx="441144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37" name="PlaceHolder 4"/>
          <p:cNvSpPr>
            <a:spLocks noGrp="1"/>
          </p:cNvSpPr>
          <p:nvPr>
            <p:ph type="body"/>
          </p:nvPr>
        </p:nvSpPr>
        <p:spPr>
          <a:xfrm>
            <a:off x="9645840" y="3135240"/>
            <a:ext cx="441144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38" name="PlaceHolder 5"/>
          <p:cNvSpPr>
            <a:spLocks noGrp="1"/>
          </p:cNvSpPr>
          <p:nvPr>
            <p:ph type="body"/>
          </p:nvPr>
        </p:nvSpPr>
        <p:spPr>
          <a:xfrm>
            <a:off x="380880" y="12641760"/>
            <a:ext cx="441144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39" name="PlaceHolder 6"/>
          <p:cNvSpPr>
            <a:spLocks noGrp="1"/>
          </p:cNvSpPr>
          <p:nvPr>
            <p:ph type="body"/>
          </p:nvPr>
        </p:nvSpPr>
        <p:spPr>
          <a:xfrm>
            <a:off x="5013360" y="12641760"/>
            <a:ext cx="441144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
        <p:nvSpPr>
          <p:cNvPr id="40" name="PlaceHolder 7"/>
          <p:cNvSpPr>
            <a:spLocks noGrp="1"/>
          </p:cNvSpPr>
          <p:nvPr>
            <p:ph type="body"/>
          </p:nvPr>
        </p:nvSpPr>
        <p:spPr>
          <a:xfrm>
            <a:off x="9645840" y="12641760"/>
            <a:ext cx="4411440" cy="8681400"/>
          </a:xfrm>
          <a:prstGeom prst="rect">
            <a:avLst/>
          </a:prstGeom>
        </p:spPr>
        <p:txBody>
          <a:bodyPr lIns="0" tIns="0" rIns="0" bIns="0">
            <a:normAutofit/>
          </a:bodyPr>
          <a:lstStyle/>
          <a:p>
            <a:endParaRPr lang="en-US" sz="10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7640280" y="410040"/>
            <a:ext cx="28128240" cy="2168640"/>
          </a:xfrm>
          <a:prstGeom prst="rect">
            <a:avLst/>
          </a:prstGeom>
        </p:spPr>
        <p:txBody>
          <a:bodyPr lIns="294840" tIns="147600" rIns="294840" bIns="147600" anchor="ctr">
            <a:noAutofit/>
          </a:bodyPr>
          <a:lstStyle/>
          <a:p>
            <a:pPr algn="ctr">
              <a:lnSpc>
                <a:spcPct val="100000"/>
              </a:lnSpc>
            </a:pPr>
            <a:r>
              <a:rPr lang="en-US" sz="4400" b="0" strike="noStrike" spc="-1">
                <a:solidFill>
                  <a:srgbClr val="000000"/>
                </a:solidFill>
                <a:latin typeface="Arial"/>
                <a:ea typeface="MS PGothic"/>
              </a:rPr>
              <a:t>Click to edit Master title style</a:t>
            </a:r>
            <a:endParaRPr lang="en-US" sz="4400" b="0" strike="noStrike" spc="-1">
              <a:solidFill>
                <a:srgbClr val="000000"/>
              </a:solidFill>
              <a:latin typeface="Arial"/>
            </a:endParaRPr>
          </a:p>
        </p:txBody>
      </p:sp>
      <p:sp>
        <p:nvSpPr>
          <p:cNvPr id="6" name="PlaceHolder 2"/>
          <p:cNvSpPr>
            <a:spLocks noGrp="1"/>
          </p:cNvSpPr>
          <p:nvPr>
            <p:ph type="body"/>
          </p:nvPr>
        </p:nvSpPr>
        <p:spPr>
          <a:xfrm>
            <a:off x="380880" y="3135240"/>
            <a:ext cx="13700520" cy="18200520"/>
          </a:xfrm>
          <a:prstGeom prst="rect">
            <a:avLst/>
          </a:prstGeom>
        </p:spPr>
        <p:txBody>
          <a:bodyPr lIns="294840" tIns="147600" rIns="294840" bIns="147600">
            <a:normAutofit/>
          </a:bodyPr>
          <a:lstStyle/>
          <a:p>
            <a:pPr marL="410400" indent="-410040">
              <a:lnSpc>
                <a:spcPct val="100000"/>
              </a:lnSpc>
              <a:spcBef>
                <a:spcPts val="581"/>
              </a:spcBef>
              <a:tabLst>
                <a:tab pos="0" algn="l"/>
              </a:tabLst>
            </a:pPr>
            <a:r>
              <a:rPr lang="en-US" sz="2900" b="0" strike="noStrike" spc="-1">
                <a:solidFill>
                  <a:srgbClr val="000000"/>
                </a:solidFill>
                <a:latin typeface="Arial"/>
                <a:ea typeface="MS PGothic"/>
              </a:rPr>
              <a:t>Click to edit Master text styles</a:t>
            </a:r>
            <a:endParaRPr lang="en-US" sz="2900" b="0" strike="noStrike" spc="-1">
              <a:solidFill>
                <a:srgbClr val="000000"/>
              </a:solidFill>
              <a:latin typeface="Calibri"/>
            </a:endParaRPr>
          </a:p>
          <a:p>
            <a:pPr marL="793080" lvl="1" indent="-655200">
              <a:lnSpc>
                <a:spcPct val="100000"/>
              </a:lnSpc>
              <a:spcBef>
                <a:spcPts val="459"/>
              </a:spcBef>
              <a:buClr>
                <a:srgbClr val="000000"/>
              </a:buClr>
              <a:buFont typeface="Wingdings" charset="2"/>
              <a:buChar char=""/>
              <a:tabLst>
                <a:tab pos="0" algn="l"/>
              </a:tabLst>
            </a:pPr>
            <a:r>
              <a:rPr lang="en-US" sz="2300" b="0" strike="noStrike" spc="-1">
                <a:solidFill>
                  <a:srgbClr val="000000"/>
                </a:solidFill>
                <a:latin typeface="Arial"/>
                <a:ea typeface="MS PGothic"/>
              </a:rPr>
              <a:t>Second level</a:t>
            </a:r>
            <a:endParaRPr lang="en-US" sz="2300" b="0" strike="noStrike" spc="-1">
              <a:solidFill>
                <a:srgbClr val="000000"/>
              </a:solidFill>
              <a:latin typeface="Calibri"/>
            </a:endParaRPr>
          </a:p>
          <a:p>
            <a:pPr marL="929520" lvl="2" indent="-546120">
              <a:lnSpc>
                <a:spcPct val="100000"/>
              </a:lnSpc>
              <a:spcBef>
                <a:spcPts val="380"/>
              </a:spcBef>
              <a:buClr>
                <a:srgbClr val="000000"/>
              </a:buClr>
              <a:buFont typeface="Arial"/>
              <a:buChar char="•"/>
              <a:tabLst>
                <a:tab pos="0" algn="l"/>
              </a:tabLst>
            </a:pPr>
            <a:r>
              <a:rPr lang="en-US" sz="1900" b="0" strike="noStrike" spc="-1">
                <a:solidFill>
                  <a:srgbClr val="000000"/>
                </a:solidFill>
                <a:latin typeface="Arial"/>
                <a:ea typeface="MS PGothic"/>
              </a:rPr>
              <a:t>Third level</a:t>
            </a:r>
            <a:endParaRPr lang="en-US" sz="1900" b="0" strike="noStrike" spc="-1">
              <a:solidFill>
                <a:srgbClr val="000000"/>
              </a:solidFill>
              <a:latin typeface="Calibri"/>
            </a:endParaRPr>
          </a:p>
          <a:p>
            <a:pPr marL="1202040" lvl="3" indent="-655200">
              <a:lnSpc>
                <a:spcPct val="100000"/>
              </a:lnSpc>
              <a:spcBef>
                <a:spcPts val="320"/>
              </a:spcBef>
              <a:buClr>
                <a:srgbClr val="000000"/>
              </a:buClr>
              <a:buFont typeface="Arial"/>
              <a:buChar char="–"/>
              <a:tabLst>
                <a:tab pos="0" algn="l"/>
              </a:tabLst>
            </a:pPr>
            <a:r>
              <a:rPr lang="en-US" sz="1600" b="0" strike="noStrike" spc="-1">
                <a:solidFill>
                  <a:srgbClr val="000000"/>
                </a:solidFill>
                <a:latin typeface="Arial"/>
                <a:ea typeface="MS PGothic"/>
              </a:rPr>
              <a:t>Fourth level</a:t>
            </a:r>
            <a:endParaRPr lang="en-US" sz="1600" b="0" strike="noStrike" spc="-1">
              <a:solidFill>
                <a:srgbClr val="000000"/>
              </a:solidFill>
              <a:latin typeface="Calibri"/>
            </a:endParaRPr>
          </a:p>
        </p:txBody>
      </p:sp>
      <p:sp>
        <p:nvSpPr>
          <p:cNvPr id="2" name="PlaceHolder 3"/>
          <p:cNvSpPr>
            <a:spLocks noGrp="1"/>
          </p:cNvSpPr>
          <p:nvPr>
            <p:ph type="body"/>
          </p:nvPr>
        </p:nvSpPr>
        <p:spPr>
          <a:xfrm>
            <a:off x="14981040" y="3135240"/>
            <a:ext cx="13700520" cy="18200520"/>
          </a:xfrm>
          <a:prstGeom prst="rect">
            <a:avLst/>
          </a:prstGeom>
        </p:spPr>
        <p:txBody>
          <a:bodyPr lIns="294840" tIns="147600" rIns="294840" bIns="147600">
            <a:normAutofit/>
          </a:bodyPr>
          <a:lstStyle/>
          <a:p>
            <a:pPr marL="410400" indent="-410040">
              <a:lnSpc>
                <a:spcPct val="100000"/>
              </a:lnSpc>
              <a:spcBef>
                <a:spcPts val="581"/>
              </a:spcBef>
              <a:tabLst>
                <a:tab pos="0" algn="l"/>
              </a:tabLst>
            </a:pPr>
            <a:r>
              <a:rPr lang="en-US" sz="2900" b="0" strike="noStrike" spc="-1">
                <a:solidFill>
                  <a:srgbClr val="000000"/>
                </a:solidFill>
                <a:latin typeface="Arial"/>
                <a:ea typeface="MS PGothic"/>
              </a:rPr>
              <a:t>Click to edit Master text styles</a:t>
            </a:r>
            <a:endParaRPr lang="en-US" sz="2900" b="0" strike="noStrike" spc="-1">
              <a:solidFill>
                <a:srgbClr val="000000"/>
              </a:solidFill>
              <a:latin typeface="Calibri"/>
            </a:endParaRPr>
          </a:p>
          <a:p>
            <a:pPr marL="793080" lvl="1" indent="-655200">
              <a:lnSpc>
                <a:spcPct val="100000"/>
              </a:lnSpc>
              <a:spcBef>
                <a:spcPts val="459"/>
              </a:spcBef>
              <a:buClr>
                <a:srgbClr val="000000"/>
              </a:buClr>
              <a:buFont typeface="Wingdings" charset="2"/>
              <a:buChar char=""/>
              <a:tabLst>
                <a:tab pos="0" algn="l"/>
              </a:tabLst>
            </a:pPr>
            <a:r>
              <a:rPr lang="en-US" sz="2300" b="0" strike="noStrike" spc="-1">
                <a:solidFill>
                  <a:srgbClr val="000000"/>
                </a:solidFill>
                <a:latin typeface="Arial"/>
                <a:ea typeface="MS PGothic"/>
              </a:rPr>
              <a:t>Second level</a:t>
            </a:r>
            <a:endParaRPr lang="en-US" sz="2300" b="0" strike="noStrike" spc="-1">
              <a:solidFill>
                <a:srgbClr val="000000"/>
              </a:solidFill>
              <a:latin typeface="Calibri"/>
            </a:endParaRPr>
          </a:p>
          <a:p>
            <a:pPr marL="929520" lvl="2" indent="-546120">
              <a:lnSpc>
                <a:spcPct val="100000"/>
              </a:lnSpc>
              <a:spcBef>
                <a:spcPts val="380"/>
              </a:spcBef>
              <a:buClr>
                <a:srgbClr val="000000"/>
              </a:buClr>
              <a:buFont typeface="Arial"/>
              <a:buChar char="•"/>
              <a:tabLst>
                <a:tab pos="0" algn="l"/>
              </a:tabLst>
            </a:pPr>
            <a:r>
              <a:rPr lang="en-US" sz="1900" b="0" strike="noStrike" spc="-1">
                <a:solidFill>
                  <a:srgbClr val="000000"/>
                </a:solidFill>
                <a:latin typeface="Arial"/>
                <a:ea typeface="MS PGothic"/>
              </a:rPr>
              <a:t>Third level</a:t>
            </a:r>
            <a:endParaRPr lang="en-US" sz="1900" b="0" strike="noStrike" spc="-1">
              <a:solidFill>
                <a:srgbClr val="000000"/>
              </a:solidFill>
              <a:latin typeface="Calibri"/>
            </a:endParaRPr>
          </a:p>
          <a:p>
            <a:pPr marL="1202040" lvl="3" indent="-655200">
              <a:lnSpc>
                <a:spcPct val="100000"/>
              </a:lnSpc>
              <a:spcBef>
                <a:spcPts val="320"/>
              </a:spcBef>
              <a:buClr>
                <a:srgbClr val="000000"/>
              </a:buClr>
              <a:buFont typeface="Arial"/>
              <a:buChar char="–"/>
              <a:tabLst>
                <a:tab pos="0" algn="l"/>
              </a:tabLst>
            </a:pPr>
            <a:r>
              <a:rPr lang="en-US" sz="1600" b="0" strike="noStrike" spc="-1">
                <a:solidFill>
                  <a:srgbClr val="000000"/>
                </a:solidFill>
                <a:latin typeface="Arial"/>
                <a:ea typeface="MS PGothic"/>
              </a:rPr>
              <a:t>Fourth level</a:t>
            </a:r>
            <a:endParaRPr lang="en-US" sz="1600" b="0" strike="noStrike" spc="-1">
              <a:solidFill>
                <a:srgbClr val="000000"/>
              </a:solidFill>
              <a:latin typeface="Calibri"/>
            </a:endParaRPr>
          </a:p>
        </p:txBody>
      </p:sp>
      <p:sp>
        <p:nvSpPr>
          <p:cNvPr id="3" name="PlaceHolder 4"/>
          <p:cNvSpPr>
            <a:spLocks noGrp="1"/>
          </p:cNvSpPr>
          <p:nvPr>
            <p:ph type="body"/>
          </p:nvPr>
        </p:nvSpPr>
        <p:spPr>
          <a:xfrm>
            <a:off x="29580840" y="3135240"/>
            <a:ext cx="13700520" cy="18200520"/>
          </a:xfrm>
          <a:prstGeom prst="rect">
            <a:avLst/>
          </a:prstGeom>
        </p:spPr>
        <p:txBody>
          <a:bodyPr lIns="294840" tIns="147600" rIns="294840" bIns="147600">
            <a:normAutofit/>
          </a:bodyPr>
          <a:lstStyle/>
          <a:p>
            <a:pPr marL="410400" indent="-410040">
              <a:lnSpc>
                <a:spcPct val="100000"/>
              </a:lnSpc>
              <a:spcBef>
                <a:spcPts val="581"/>
              </a:spcBef>
              <a:tabLst>
                <a:tab pos="0" algn="l"/>
              </a:tabLst>
            </a:pPr>
            <a:r>
              <a:rPr lang="en-US" sz="2900" b="0" strike="noStrike" spc="-1">
                <a:solidFill>
                  <a:srgbClr val="000000"/>
                </a:solidFill>
                <a:latin typeface="Arial"/>
                <a:ea typeface="MS PGothic"/>
              </a:rPr>
              <a:t>Click to edit Master text styles</a:t>
            </a:r>
            <a:endParaRPr lang="en-US" sz="2900" b="0" strike="noStrike" spc="-1">
              <a:solidFill>
                <a:srgbClr val="000000"/>
              </a:solidFill>
              <a:latin typeface="Calibri"/>
            </a:endParaRPr>
          </a:p>
          <a:p>
            <a:pPr marL="793080" lvl="1" indent="-655200">
              <a:lnSpc>
                <a:spcPct val="100000"/>
              </a:lnSpc>
              <a:spcBef>
                <a:spcPts val="459"/>
              </a:spcBef>
              <a:buClr>
                <a:srgbClr val="000000"/>
              </a:buClr>
              <a:buFont typeface="Wingdings" charset="2"/>
              <a:buChar char=""/>
              <a:tabLst>
                <a:tab pos="0" algn="l"/>
              </a:tabLst>
            </a:pPr>
            <a:r>
              <a:rPr lang="en-US" sz="2300" b="0" strike="noStrike" spc="-1">
                <a:solidFill>
                  <a:srgbClr val="000000"/>
                </a:solidFill>
                <a:latin typeface="Arial"/>
                <a:ea typeface="MS PGothic"/>
              </a:rPr>
              <a:t>Second level</a:t>
            </a:r>
            <a:endParaRPr lang="en-US" sz="2300" b="0" strike="noStrike" spc="-1">
              <a:solidFill>
                <a:srgbClr val="000000"/>
              </a:solidFill>
              <a:latin typeface="Calibri"/>
            </a:endParaRPr>
          </a:p>
          <a:p>
            <a:pPr marL="929520" lvl="2" indent="-546120">
              <a:lnSpc>
                <a:spcPct val="100000"/>
              </a:lnSpc>
              <a:spcBef>
                <a:spcPts val="380"/>
              </a:spcBef>
              <a:buClr>
                <a:srgbClr val="000000"/>
              </a:buClr>
              <a:buFont typeface="Arial"/>
              <a:buChar char="•"/>
              <a:tabLst>
                <a:tab pos="0" algn="l"/>
              </a:tabLst>
            </a:pPr>
            <a:r>
              <a:rPr lang="en-US" sz="1900" b="0" strike="noStrike" spc="-1">
                <a:solidFill>
                  <a:srgbClr val="000000"/>
                </a:solidFill>
                <a:latin typeface="Arial"/>
                <a:ea typeface="MS PGothic"/>
              </a:rPr>
              <a:t>Third level</a:t>
            </a:r>
            <a:endParaRPr lang="en-US" sz="1900" b="0" strike="noStrike" spc="-1">
              <a:solidFill>
                <a:srgbClr val="000000"/>
              </a:solidFill>
              <a:latin typeface="Calibri"/>
            </a:endParaRPr>
          </a:p>
          <a:p>
            <a:pPr marL="1202040" lvl="3" indent="-655200">
              <a:lnSpc>
                <a:spcPct val="100000"/>
              </a:lnSpc>
              <a:spcBef>
                <a:spcPts val="320"/>
              </a:spcBef>
              <a:buClr>
                <a:srgbClr val="000000"/>
              </a:buClr>
              <a:buFont typeface="Arial"/>
              <a:buChar char="–"/>
              <a:tabLst>
                <a:tab pos="0" algn="l"/>
              </a:tabLst>
            </a:pPr>
            <a:r>
              <a:rPr lang="en-US" sz="1600" b="0" strike="noStrike" spc="-1">
                <a:solidFill>
                  <a:srgbClr val="000000"/>
                </a:solidFill>
                <a:latin typeface="Arial"/>
                <a:ea typeface="MS PGothic"/>
              </a:rPr>
              <a:t>Fourth level</a:t>
            </a:r>
            <a:endParaRPr lang="en-US" sz="1600" b="0" strike="noStrike" spc="-1">
              <a:solidFill>
                <a:srgbClr val="000000"/>
              </a:solidFill>
              <a:latin typeface="Calibri"/>
            </a:endParaRPr>
          </a:p>
        </p:txBody>
      </p:sp>
      <p:pic>
        <p:nvPicPr>
          <p:cNvPr id="8" name="Graphic 7">
            <a:extLst>
              <a:ext uri="{FF2B5EF4-FFF2-40B4-BE49-F238E27FC236}">
                <a16:creationId xmlns:a16="http://schemas.microsoft.com/office/drawing/2014/main" id="{CD27B2F0-7F05-1B48-8F96-994066F4E4F8}"/>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7158408" y="779955"/>
            <a:ext cx="5196600" cy="142881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microsoft.com/office/2007/relationships/hdphoto" Target="../media/hdphoto1.wdp"/><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3.png"/><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B89320-5832-7B2B-8E76-70826CED3CFE}"/>
              </a:ext>
            </a:extLst>
          </p:cNvPr>
          <p:cNvSpPr/>
          <p:nvPr/>
        </p:nvSpPr>
        <p:spPr>
          <a:xfrm>
            <a:off x="-35571" y="0"/>
            <a:ext cx="43926771" cy="4212210"/>
          </a:xfrm>
          <a:prstGeom prst="rect">
            <a:avLst/>
          </a:prstGeom>
          <a:gradFill flip="none" rotWithShape="1">
            <a:gsLst>
              <a:gs pos="18000">
                <a:schemeClr val="bg1"/>
              </a:gs>
              <a:gs pos="45000">
                <a:srgbClr val="0070C0"/>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600" b="1" dirty="0">
                <a:latin typeface="Aptos" panose="020B0004020202020204" pitchFamily="34" charset="0"/>
                <a:ea typeface="Batang" panose="020B0503020000020004" pitchFamily="18" charset="-127"/>
                <a:cs typeface="Tunga" panose="020B0502040204020203" pitchFamily="34" charset="0"/>
              </a:rPr>
              <a:t>PLOT-TAL: Prompt-Learning with Optimal Transport </a:t>
            </a:r>
          </a:p>
          <a:p>
            <a:pPr algn="ctr"/>
            <a:r>
              <a:rPr lang="en-GB" sz="6600" b="1" dirty="0">
                <a:latin typeface="Aptos" panose="020B0004020202020204" pitchFamily="34" charset="0"/>
                <a:ea typeface="Batang" panose="020B0503020000020004" pitchFamily="18" charset="-127"/>
                <a:cs typeface="Tunga" panose="020B0502040204020203" pitchFamily="34" charset="0"/>
              </a:rPr>
              <a:t>for Few-Shot Temporal Action Localization</a:t>
            </a:r>
          </a:p>
        </p:txBody>
      </p:sp>
      <p:sp>
        <p:nvSpPr>
          <p:cNvPr id="2" name="TextBox 1">
            <a:extLst>
              <a:ext uri="{FF2B5EF4-FFF2-40B4-BE49-F238E27FC236}">
                <a16:creationId xmlns:a16="http://schemas.microsoft.com/office/drawing/2014/main" id="{769649A9-28E5-F36F-2FB5-3D8FD653663D}"/>
              </a:ext>
            </a:extLst>
          </p:cNvPr>
          <p:cNvSpPr txBox="1"/>
          <p:nvPr/>
        </p:nvSpPr>
        <p:spPr>
          <a:xfrm>
            <a:off x="22037041" y="10180320"/>
            <a:ext cx="132982" cy="265870"/>
          </a:xfrm>
          <a:prstGeom prst="rect">
            <a:avLst/>
          </a:prstGeom>
          <a:noFill/>
        </p:spPr>
        <p:txBody>
          <a:bodyPr wrap="square" rtlCol="0">
            <a:spAutoFit/>
          </a:bodyPr>
          <a:lstStyle/>
          <a:p>
            <a:endParaRPr lang="en-US"/>
          </a:p>
        </p:txBody>
      </p:sp>
      <p:pic>
        <p:nvPicPr>
          <p:cNvPr id="4" name="Picture 3" descr="Centre for Vision, Speech and Signal Processing | University of Surrey">
            <a:extLst>
              <a:ext uri="{FF2B5EF4-FFF2-40B4-BE49-F238E27FC236}">
                <a16:creationId xmlns:a16="http://schemas.microsoft.com/office/drawing/2014/main" id="{2E352086-7436-EAD5-ECBE-56D2D85749F4}"/>
              </a:ext>
            </a:extLst>
          </p:cNvPr>
          <p:cNvPicPr>
            <a:picLocks noChangeAspect="1"/>
          </p:cNvPicPr>
          <p:nvPr/>
        </p:nvPicPr>
        <p:blipFill>
          <a:blip r:embed="rId2">
            <a:extLst>
              <a:ext uri="{BEBA8EAE-BF5A-486C-A8C5-ECC9F3942E4B}">
                <a14:imgProps xmlns:a14="http://schemas.microsoft.com/office/drawing/2010/main">
                  <a14:imgLayer r:embed="rId3">
                    <a14:imgEffect>
                      <a14:artisticPhotocopy trans="0" detail="10"/>
                    </a14:imgEffect>
                  </a14:imgLayer>
                </a14:imgProps>
              </a:ext>
            </a:extLst>
          </a:blip>
          <a:srcRect t="12394" r="-1149" b="11680"/>
          <a:stretch>
            <a:fillRect/>
          </a:stretch>
        </p:blipFill>
        <p:spPr>
          <a:xfrm>
            <a:off x="3777183" y="942183"/>
            <a:ext cx="2751789" cy="2098679"/>
          </a:xfrm>
          <a:prstGeom prst="rect">
            <a:avLst/>
          </a:prstGeom>
          <a:noFill/>
        </p:spPr>
      </p:pic>
      <p:sp>
        <p:nvSpPr>
          <p:cNvPr id="12" name="TextBox 11">
            <a:extLst>
              <a:ext uri="{FF2B5EF4-FFF2-40B4-BE49-F238E27FC236}">
                <a16:creationId xmlns:a16="http://schemas.microsoft.com/office/drawing/2014/main" id="{5B1D3EA3-EF7C-1521-2A26-76DD50FC8789}"/>
              </a:ext>
            </a:extLst>
          </p:cNvPr>
          <p:cNvSpPr txBox="1"/>
          <p:nvPr/>
        </p:nvSpPr>
        <p:spPr>
          <a:xfrm>
            <a:off x="15395956" y="3176519"/>
            <a:ext cx="13415151" cy="12618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dirty="0">
                <a:solidFill>
                  <a:schemeClr val="bg1"/>
                </a:solidFill>
                <a:latin typeface="Aptos" panose="020B0004020202020204" pitchFamily="34" charset="0"/>
              </a:rPr>
              <a:t>Edward Fish, Andrew Gilbert</a:t>
            </a:r>
          </a:p>
          <a:p>
            <a:pPr algn="r"/>
            <a:endParaRPr lang="en-US" sz="3200" dirty="0"/>
          </a:p>
        </p:txBody>
      </p:sp>
      <p:sp>
        <p:nvSpPr>
          <p:cNvPr id="21" name="TextBox 20">
            <a:extLst>
              <a:ext uri="{FF2B5EF4-FFF2-40B4-BE49-F238E27FC236}">
                <a16:creationId xmlns:a16="http://schemas.microsoft.com/office/drawing/2014/main" id="{E0B2C7EC-4EA4-254F-6199-673A92B2CD60}"/>
              </a:ext>
            </a:extLst>
          </p:cNvPr>
          <p:cNvSpPr txBox="1"/>
          <p:nvPr/>
        </p:nvSpPr>
        <p:spPr>
          <a:xfrm>
            <a:off x="13664328" y="4304579"/>
            <a:ext cx="16941700" cy="16927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latin typeface="Aptos" panose="020B0004020202020204" pitchFamily="34" charset="0"/>
                <a:ea typeface="+mn-lt"/>
                <a:cs typeface="+mn-lt"/>
              </a:rPr>
              <a:t>Ensembles of prompts can learn unique discriminative features when aligned with actions via Optimal Transport</a:t>
            </a:r>
          </a:p>
          <a:p>
            <a:endParaRPr lang="en-GB" sz="3200" dirty="0"/>
          </a:p>
        </p:txBody>
      </p:sp>
      <p:sp>
        <p:nvSpPr>
          <p:cNvPr id="22" name="TextBox 21">
            <a:extLst>
              <a:ext uri="{FF2B5EF4-FFF2-40B4-BE49-F238E27FC236}">
                <a16:creationId xmlns:a16="http://schemas.microsoft.com/office/drawing/2014/main" id="{EB5EFC83-3B98-0105-C733-681DC34040E3}"/>
              </a:ext>
            </a:extLst>
          </p:cNvPr>
          <p:cNvSpPr txBox="1"/>
          <p:nvPr/>
        </p:nvSpPr>
        <p:spPr>
          <a:xfrm>
            <a:off x="289185" y="5357563"/>
            <a:ext cx="1205751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latin typeface="Aptos Light" panose="020B0004020202020204" pitchFamily="34" charset="0"/>
                <a:ea typeface="+mn-lt"/>
                <a:cs typeface="+mn-lt"/>
              </a:rPr>
              <a:t>In few-shot temporal action localisation we need to generalise from just 5 instances of an action to the same action in different environments and contexts.</a:t>
            </a:r>
          </a:p>
          <a:p>
            <a:endParaRPr lang="en-US" sz="2400" dirty="0">
              <a:latin typeface="Aptos Light" panose="020B0004020202020204" pitchFamily="34" charset="0"/>
            </a:endParaRPr>
          </a:p>
        </p:txBody>
      </p:sp>
      <p:pic>
        <p:nvPicPr>
          <p:cNvPr id="1032" name="Picture 8" descr="ICCV 2025 - Amazon Science">
            <a:extLst>
              <a:ext uri="{FF2B5EF4-FFF2-40B4-BE49-F238E27FC236}">
                <a16:creationId xmlns:a16="http://schemas.microsoft.com/office/drawing/2014/main" id="{B48A25E0-09E8-5BF7-FF06-36C5B2360F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56664" y="1132997"/>
            <a:ext cx="6970991" cy="192214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CompSoc — University of Surrey">
            <a:extLst>
              <a:ext uri="{FF2B5EF4-FFF2-40B4-BE49-F238E27FC236}">
                <a16:creationId xmlns:a16="http://schemas.microsoft.com/office/drawing/2014/main" id="{8BD4EE6D-F5EF-4096-CF20-019A8324271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2016" r="-22016"/>
          <a:stretch>
            <a:fillRect/>
          </a:stretch>
        </p:blipFill>
        <p:spPr bwMode="auto">
          <a:xfrm>
            <a:off x="6528972" y="993498"/>
            <a:ext cx="6529130" cy="1710496"/>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CE65493E-D126-A976-D123-7707CE40C0D6}"/>
              </a:ext>
            </a:extLst>
          </p:cNvPr>
          <p:cNvSpPr txBox="1"/>
          <p:nvPr/>
        </p:nvSpPr>
        <p:spPr>
          <a:xfrm>
            <a:off x="241499" y="4411891"/>
            <a:ext cx="12130343" cy="646331"/>
          </a:xfrm>
          <a:prstGeom prst="rect">
            <a:avLst/>
          </a:prstGeom>
          <a:solidFill>
            <a:srgbClr val="B22F5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GB" sz="3600" dirty="0">
                <a:latin typeface="Aptos Mono" panose="020B0009020202020204" pitchFamily="49" charset="0"/>
              </a:rPr>
              <a:t>Motivation</a:t>
            </a:r>
          </a:p>
        </p:txBody>
      </p:sp>
      <p:sp>
        <p:nvSpPr>
          <p:cNvPr id="30" name="Rectangle 29">
            <a:extLst>
              <a:ext uri="{FF2B5EF4-FFF2-40B4-BE49-F238E27FC236}">
                <a16:creationId xmlns:a16="http://schemas.microsoft.com/office/drawing/2014/main" id="{045254E5-6FA0-646A-D4DB-E31691D63A95}"/>
              </a:ext>
            </a:extLst>
          </p:cNvPr>
          <p:cNvSpPr/>
          <p:nvPr/>
        </p:nvSpPr>
        <p:spPr>
          <a:xfrm>
            <a:off x="-35571" y="21036929"/>
            <a:ext cx="43926771" cy="908671"/>
          </a:xfrm>
          <a:prstGeom prst="rect">
            <a:avLst/>
          </a:prstGeom>
          <a:solidFill>
            <a:srgbClr val="96C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GB" dirty="0">
              <a:latin typeface="Aptos" panose="020B0004020202020204" pitchFamily="34" charset="0"/>
            </a:endParaRPr>
          </a:p>
        </p:txBody>
      </p:sp>
      <p:sp>
        <p:nvSpPr>
          <p:cNvPr id="18" name="TextBox 17">
            <a:extLst>
              <a:ext uri="{FF2B5EF4-FFF2-40B4-BE49-F238E27FC236}">
                <a16:creationId xmlns:a16="http://schemas.microsoft.com/office/drawing/2014/main" id="{8047643B-64BF-D79E-991C-2102402BDF28}"/>
              </a:ext>
            </a:extLst>
          </p:cNvPr>
          <p:cNvSpPr txBox="1"/>
          <p:nvPr/>
        </p:nvSpPr>
        <p:spPr>
          <a:xfrm>
            <a:off x="9168175" y="24156525"/>
            <a:ext cx="51118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dirty="0">
              <a:latin typeface="Aptos" panose="020B0004020202020204" pitchFamily="34" charset="0"/>
            </a:endParaRPr>
          </a:p>
        </p:txBody>
      </p:sp>
      <p:sp>
        <p:nvSpPr>
          <p:cNvPr id="44" name="TextBox 43">
            <a:extLst>
              <a:ext uri="{FF2B5EF4-FFF2-40B4-BE49-F238E27FC236}">
                <a16:creationId xmlns:a16="http://schemas.microsoft.com/office/drawing/2014/main" id="{BFA1DFD3-BECC-E699-658A-D2FEB50903F7}"/>
              </a:ext>
            </a:extLst>
          </p:cNvPr>
          <p:cNvSpPr txBox="1"/>
          <p:nvPr/>
        </p:nvSpPr>
        <p:spPr>
          <a:xfrm>
            <a:off x="1263077" y="7790427"/>
            <a:ext cx="986569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sz="3200" dirty="0">
              <a:latin typeface="Aptos" panose="020B0004020202020204" pitchFamily="34" charset="0"/>
              <a:ea typeface="+mn-lt"/>
              <a:cs typeface="+mn-lt"/>
            </a:endParaRPr>
          </a:p>
          <a:p>
            <a:pPr algn="ctr"/>
            <a:endParaRPr lang="en-GB" sz="3600" b="1" dirty="0">
              <a:latin typeface="Aptos" panose="020B0004020202020204" pitchFamily="34" charset="0"/>
              <a:ea typeface="+mn-lt"/>
              <a:cs typeface="+mn-lt"/>
            </a:endParaRPr>
          </a:p>
          <a:p>
            <a:pPr algn="ctr"/>
            <a:r>
              <a:rPr lang="en-GB" sz="3200" dirty="0">
                <a:latin typeface="Aptos" panose="020B0004020202020204" pitchFamily="34" charset="0"/>
                <a:ea typeface="+mn-lt"/>
                <a:cs typeface="+mn-lt"/>
              </a:rPr>
              <a:t> </a:t>
            </a:r>
            <a:endParaRPr lang="en-GB" sz="3200" dirty="0"/>
          </a:p>
        </p:txBody>
      </p:sp>
      <p:sp>
        <p:nvSpPr>
          <p:cNvPr id="1044" name="Rectangle 3">
            <a:extLst>
              <a:ext uri="{FF2B5EF4-FFF2-40B4-BE49-F238E27FC236}">
                <a16:creationId xmlns:a16="http://schemas.microsoft.com/office/drawing/2014/main" id="{26877AC1-1B6B-6A70-252A-AEC738CCEF23}"/>
              </a:ext>
            </a:extLst>
          </p:cNvPr>
          <p:cNvSpPr>
            <a:spLocks noChangeArrowheads="1"/>
          </p:cNvSpPr>
          <p:nvPr/>
        </p:nvSpPr>
        <p:spPr bwMode="auto">
          <a:xfrm>
            <a:off x="241499" y="7896899"/>
            <a:ext cx="1205751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ptos Mono" panose="020B0009020202020204" pitchFamily="49" charset="0"/>
              </a:rPr>
              <a:t>Our Hypothesis:</a:t>
            </a:r>
            <a:r>
              <a:rPr kumimoji="0" lang="en-US" altLang="en-US" sz="2400" b="0" i="0" u="none" strike="noStrike" cap="none" normalizeH="0" baseline="0" dirty="0">
                <a:ln>
                  <a:noFill/>
                </a:ln>
                <a:solidFill>
                  <a:schemeClr val="tx1"/>
                </a:solidFill>
                <a:effectLst/>
                <a:latin typeface="Aptos Mono" panose="020B0009020202020204" pitchFamily="49"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ptos Light" panose="020B0004020202020204" pitchFamily="34" charset="0"/>
              </a:rPr>
              <a:t>Actions are not monolithic; they are composed of smaller sub-events (e.g., a "high jump" is a run, a leap, and an arch). Learning these compositional parts from a few examples is a more robust and generalizable approach.</a:t>
            </a:r>
          </a:p>
        </p:txBody>
      </p:sp>
      <p:sp>
        <p:nvSpPr>
          <p:cNvPr id="1046" name="TextBox 1045">
            <a:extLst>
              <a:ext uri="{FF2B5EF4-FFF2-40B4-BE49-F238E27FC236}">
                <a16:creationId xmlns:a16="http://schemas.microsoft.com/office/drawing/2014/main" id="{3697AA90-A934-2D27-472D-ED1EF1A9C5FB}"/>
              </a:ext>
            </a:extLst>
          </p:cNvPr>
          <p:cNvSpPr txBox="1"/>
          <p:nvPr/>
        </p:nvSpPr>
        <p:spPr>
          <a:xfrm>
            <a:off x="289186" y="6290757"/>
            <a:ext cx="12057515" cy="156966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ptos Mono" panose="020B0009020202020204" pitchFamily="49" charset="0"/>
              </a:rPr>
              <a:t>The Problem</a:t>
            </a:r>
            <a:r>
              <a:rPr kumimoji="0" lang="en-US" altLang="en-US" sz="2400" b="1" i="0" u="none" strike="noStrike" cap="none" normalizeH="0" baseline="0" dirty="0">
                <a:ln>
                  <a:noFill/>
                </a:ln>
                <a:solidFill>
                  <a:schemeClr val="tx1"/>
                </a:solidFill>
                <a:effectLst/>
                <a:latin typeface="Aptos Light"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ptos Light" panose="020F0502020204030204" pitchFamily="34" charset="0"/>
              </a:rPr>
              <a:t>Standard few-shot methods use a single prompt to learn an action. From sparse data, this prompt learns a blurry, non-discriminative "average" of the action, leading to imprecise start/end times and poor generalization.</a:t>
            </a:r>
          </a:p>
        </p:txBody>
      </p:sp>
      <p:pic>
        <p:nvPicPr>
          <p:cNvPr id="1048" name="Graphic 1047">
            <a:extLst>
              <a:ext uri="{FF2B5EF4-FFF2-40B4-BE49-F238E27FC236}">
                <a16:creationId xmlns:a16="http://schemas.microsoft.com/office/drawing/2014/main" id="{AD10AC11-5A6B-3B1E-57AF-A27BDAC2FF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007106" y="14424471"/>
            <a:ext cx="9393814" cy="5284019"/>
          </a:xfrm>
          <a:prstGeom prst="rect">
            <a:avLst/>
          </a:prstGeom>
        </p:spPr>
      </p:pic>
      <p:sp>
        <p:nvSpPr>
          <p:cNvPr id="1051" name="TextBox 1050">
            <a:extLst>
              <a:ext uri="{FF2B5EF4-FFF2-40B4-BE49-F238E27FC236}">
                <a16:creationId xmlns:a16="http://schemas.microsoft.com/office/drawing/2014/main" id="{968E9858-2230-4FB3-45A1-02077B2547AB}"/>
              </a:ext>
            </a:extLst>
          </p:cNvPr>
          <p:cNvSpPr txBox="1"/>
          <p:nvPr/>
        </p:nvSpPr>
        <p:spPr>
          <a:xfrm>
            <a:off x="31519358" y="4414898"/>
            <a:ext cx="12130343" cy="646331"/>
          </a:xfrm>
          <a:prstGeom prst="rect">
            <a:avLst/>
          </a:prstGeom>
          <a:solidFill>
            <a:srgbClr val="B22F5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GB" sz="3600" dirty="0">
                <a:latin typeface="Aptos Mono" panose="020B0009020202020204" pitchFamily="49" charset="0"/>
              </a:rPr>
              <a:t>Results</a:t>
            </a:r>
          </a:p>
        </p:txBody>
      </p:sp>
      <p:pic>
        <p:nvPicPr>
          <p:cNvPr id="1055" name="Picture 1054">
            <a:extLst>
              <a:ext uri="{FF2B5EF4-FFF2-40B4-BE49-F238E27FC236}">
                <a16:creationId xmlns:a16="http://schemas.microsoft.com/office/drawing/2014/main" id="{7DF8D623-57EA-D61A-4F41-2DBCAFE44BA0}"/>
              </a:ext>
            </a:extLst>
          </p:cNvPr>
          <p:cNvPicPr>
            <a:picLocks noChangeAspect="1"/>
          </p:cNvPicPr>
          <p:nvPr/>
        </p:nvPicPr>
        <p:blipFill>
          <a:blip r:embed="rId8"/>
          <a:stretch>
            <a:fillRect/>
          </a:stretch>
        </p:blipFill>
        <p:spPr>
          <a:xfrm>
            <a:off x="31580042" y="5206092"/>
            <a:ext cx="5846654" cy="3529957"/>
          </a:xfrm>
          <a:prstGeom prst="rect">
            <a:avLst/>
          </a:prstGeom>
        </p:spPr>
      </p:pic>
      <p:pic>
        <p:nvPicPr>
          <p:cNvPr id="1057" name="Picture 1056">
            <a:extLst>
              <a:ext uri="{FF2B5EF4-FFF2-40B4-BE49-F238E27FC236}">
                <a16:creationId xmlns:a16="http://schemas.microsoft.com/office/drawing/2014/main" id="{D4BC44F6-3153-217C-AA0A-9463CC1E532F}"/>
              </a:ext>
            </a:extLst>
          </p:cNvPr>
          <p:cNvPicPr>
            <a:picLocks noChangeAspect="1"/>
          </p:cNvPicPr>
          <p:nvPr/>
        </p:nvPicPr>
        <p:blipFill>
          <a:blip r:embed="rId9"/>
          <a:stretch>
            <a:fillRect/>
          </a:stretch>
        </p:blipFill>
        <p:spPr>
          <a:xfrm>
            <a:off x="31429764" y="9388398"/>
            <a:ext cx="11941666" cy="2610466"/>
          </a:xfrm>
          <a:prstGeom prst="rect">
            <a:avLst/>
          </a:prstGeom>
        </p:spPr>
      </p:pic>
      <p:pic>
        <p:nvPicPr>
          <p:cNvPr id="1059" name="Picture 1058">
            <a:extLst>
              <a:ext uri="{FF2B5EF4-FFF2-40B4-BE49-F238E27FC236}">
                <a16:creationId xmlns:a16="http://schemas.microsoft.com/office/drawing/2014/main" id="{624C6101-5665-6B63-11A6-9F31AAF0388C}"/>
              </a:ext>
            </a:extLst>
          </p:cNvPr>
          <p:cNvPicPr>
            <a:picLocks noChangeAspect="1"/>
          </p:cNvPicPr>
          <p:nvPr/>
        </p:nvPicPr>
        <p:blipFill>
          <a:blip r:embed="rId10"/>
          <a:stretch>
            <a:fillRect/>
          </a:stretch>
        </p:blipFill>
        <p:spPr>
          <a:xfrm>
            <a:off x="31519358" y="13327303"/>
            <a:ext cx="6172735" cy="3048264"/>
          </a:xfrm>
          <a:prstGeom prst="rect">
            <a:avLst/>
          </a:prstGeom>
        </p:spPr>
      </p:pic>
      <p:pic>
        <p:nvPicPr>
          <p:cNvPr id="1061" name="Picture 1060">
            <a:extLst>
              <a:ext uri="{FF2B5EF4-FFF2-40B4-BE49-F238E27FC236}">
                <a16:creationId xmlns:a16="http://schemas.microsoft.com/office/drawing/2014/main" id="{CAC3E9C5-AB37-961F-2FDD-517899ACDA01}"/>
              </a:ext>
            </a:extLst>
          </p:cNvPr>
          <p:cNvPicPr>
            <a:picLocks noChangeAspect="1"/>
          </p:cNvPicPr>
          <p:nvPr/>
        </p:nvPicPr>
        <p:blipFill>
          <a:blip r:embed="rId11"/>
          <a:stretch>
            <a:fillRect/>
          </a:stretch>
        </p:blipFill>
        <p:spPr>
          <a:xfrm>
            <a:off x="38194174" y="13344101"/>
            <a:ext cx="5099084" cy="3002902"/>
          </a:xfrm>
          <a:prstGeom prst="rect">
            <a:avLst/>
          </a:prstGeom>
        </p:spPr>
      </p:pic>
      <p:pic>
        <p:nvPicPr>
          <p:cNvPr id="1065" name="Picture 1064">
            <a:extLst>
              <a:ext uri="{FF2B5EF4-FFF2-40B4-BE49-F238E27FC236}">
                <a16:creationId xmlns:a16="http://schemas.microsoft.com/office/drawing/2014/main" id="{9F459A15-74C1-37FB-811F-4EE0B43FFDAC}"/>
              </a:ext>
            </a:extLst>
          </p:cNvPr>
          <p:cNvPicPr>
            <a:picLocks noChangeAspect="1"/>
          </p:cNvPicPr>
          <p:nvPr/>
        </p:nvPicPr>
        <p:blipFill>
          <a:blip r:embed="rId12"/>
          <a:stretch>
            <a:fillRect/>
          </a:stretch>
        </p:blipFill>
        <p:spPr>
          <a:xfrm>
            <a:off x="31580042" y="17082664"/>
            <a:ext cx="8939035" cy="2758679"/>
          </a:xfrm>
          <a:prstGeom prst="rect">
            <a:avLst/>
          </a:prstGeom>
        </p:spPr>
      </p:pic>
      <p:pic>
        <p:nvPicPr>
          <p:cNvPr id="1067" name="Picture 1066">
            <a:extLst>
              <a:ext uri="{FF2B5EF4-FFF2-40B4-BE49-F238E27FC236}">
                <a16:creationId xmlns:a16="http://schemas.microsoft.com/office/drawing/2014/main" id="{BB813246-3886-639E-A053-3EB69AFB29BE}"/>
              </a:ext>
            </a:extLst>
          </p:cNvPr>
          <p:cNvPicPr>
            <a:picLocks noChangeAspect="1"/>
          </p:cNvPicPr>
          <p:nvPr/>
        </p:nvPicPr>
        <p:blipFill>
          <a:blip r:embed="rId13"/>
          <a:stretch>
            <a:fillRect/>
          </a:stretch>
        </p:blipFill>
        <p:spPr>
          <a:xfrm>
            <a:off x="1617840" y="13443400"/>
            <a:ext cx="10047013" cy="5793832"/>
          </a:xfrm>
          <a:prstGeom prst="rect">
            <a:avLst/>
          </a:prstGeom>
        </p:spPr>
      </p:pic>
      <p:pic>
        <p:nvPicPr>
          <p:cNvPr id="1069" name="Picture 1068">
            <a:extLst>
              <a:ext uri="{FF2B5EF4-FFF2-40B4-BE49-F238E27FC236}">
                <a16:creationId xmlns:a16="http://schemas.microsoft.com/office/drawing/2014/main" id="{91099499-886B-A8FB-DC28-53F3C46C8FA0}"/>
              </a:ext>
            </a:extLst>
          </p:cNvPr>
          <p:cNvPicPr>
            <a:picLocks noChangeAspect="1"/>
          </p:cNvPicPr>
          <p:nvPr/>
        </p:nvPicPr>
        <p:blipFill>
          <a:blip r:embed="rId14"/>
          <a:stretch>
            <a:fillRect/>
          </a:stretch>
        </p:blipFill>
        <p:spPr>
          <a:xfrm>
            <a:off x="37471121" y="5305109"/>
            <a:ext cx="6095911" cy="3168759"/>
          </a:xfrm>
          <a:prstGeom prst="rect">
            <a:avLst/>
          </a:prstGeom>
        </p:spPr>
      </p:pic>
      <p:sp>
        <p:nvSpPr>
          <p:cNvPr id="1072" name="TextBox 1071">
            <a:extLst>
              <a:ext uri="{FF2B5EF4-FFF2-40B4-BE49-F238E27FC236}">
                <a16:creationId xmlns:a16="http://schemas.microsoft.com/office/drawing/2014/main" id="{160941F8-198A-8564-1191-C17E05386ED3}"/>
              </a:ext>
            </a:extLst>
          </p:cNvPr>
          <p:cNvSpPr txBox="1"/>
          <p:nvPr/>
        </p:nvSpPr>
        <p:spPr>
          <a:xfrm>
            <a:off x="314325" y="19348841"/>
            <a:ext cx="12057514" cy="1200329"/>
          </a:xfrm>
          <a:prstGeom prst="rect">
            <a:avLst/>
          </a:prstGeom>
          <a:noFill/>
        </p:spPr>
        <p:txBody>
          <a:bodyPr wrap="square">
            <a:spAutoFit/>
          </a:bodyPr>
          <a:lstStyle/>
          <a:p>
            <a:pPr lvl="0"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Aptos Light" panose="020B0004020202020204" pitchFamily="34" charset="0"/>
              </a:rPr>
              <a:t>In this example, </a:t>
            </a:r>
            <a:r>
              <a:rPr lang="en-US" altLang="en-US" sz="2400" dirty="0">
                <a:latin typeface="Aptos Light" panose="020B0004020202020204" pitchFamily="34" charset="0"/>
              </a:rPr>
              <a:t>we visualize the transport cost for each learnable prompt and feature. We can observe how some prompts are aligned with specific actions in the video such as the cricket shot, while others align with contextual visual features such as the field.</a:t>
            </a:r>
            <a:endParaRPr kumimoji="0" lang="en-US" altLang="en-US" sz="2400" i="0" u="none" strike="noStrike" cap="none" normalizeH="0" baseline="0" dirty="0">
              <a:ln>
                <a:noFill/>
              </a:ln>
              <a:solidFill>
                <a:schemeClr val="tx1"/>
              </a:solidFill>
              <a:effectLst/>
              <a:latin typeface="Aptos Light" panose="020F0502020204030204" pitchFamily="34" charset="0"/>
            </a:endParaRPr>
          </a:p>
        </p:txBody>
      </p:sp>
      <p:sp>
        <p:nvSpPr>
          <p:cNvPr id="1077" name="TextBox 1076">
            <a:extLst>
              <a:ext uri="{FF2B5EF4-FFF2-40B4-BE49-F238E27FC236}">
                <a16:creationId xmlns:a16="http://schemas.microsoft.com/office/drawing/2014/main" id="{E41E02C5-A586-8FA8-032D-6A8DFBB0FF87}"/>
              </a:ext>
            </a:extLst>
          </p:cNvPr>
          <p:cNvSpPr txBox="1"/>
          <p:nvPr/>
        </p:nvSpPr>
        <p:spPr>
          <a:xfrm>
            <a:off x="13524912" y="12543865"/>
            <a:ext cx="17269637" cy="646331"/>
          </a:xfrm>
          <a:prstGeom prst="rect">
            <a:avLst/>
          </a:prstGeom>
          <a:solidFill>
            <a:srgbClr val="B22F59"/>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GB" sz="3600" dirty="0">
                <a:latin typeface="Aptos Mono" panose="020B0009020202020204" pitchFamily="49" charset="0"/>
              </a:rPr>
              <a:t>Methodology</a:t>
            </a:r>
          </a:p>
        </p:txBody>
      </p:sp>
      <p:sp>
        <p:nvSpPr>
          <p:cNvPr id="1078" name="TextBox 1077">
            <a:extLst>
              <a:ext uri="{FF2B5EF4-FFF2-40B4-BE49-F238E27FC236}">
                <a16:creationId xmlns:a16="http://schemas.microsoft.com/office/drawing/2014/main" id="{65E2A4FE-FEC1-5AC1-F4D4-CAB1F87FC502}"/>
              </a:ext>
            </a:extLst>
          </p:cNvPr>
          <p:cNvSpPr txBox="1"/>
          <p:nvPr/>
        </p:nvSpPr>
        <p:spPr>
          <a:xfrm>
            <a:off x="13524911" y="10852908"/>
            <a:ext cx="17269637" cy="1569660"/>
          </a:xfrm>
          <a:prstGeom prst="rect">
            <a:avLst/>
          </a:prstGeom>
          <a:noFill/>
        </p:spPr>
        <p:txBody>
          <a:bodyPr wrap="square">
            <a:spAutoFit/>
          </a:bodyPr>
          <a:lstStyle/>
          <a:p>
            <a:pPr lvl="0" eaLnBrk="0" fontAlgn="base" hangingPunct="0">
              <a:spcBef>
                <a:spcPct val="0"/>
              </a:spcBef>
              <a:spcAft>
                <a:spcPct val="0"/>
              </a:spcAft>
            </a:pPr>
            <a:r>
              <a:rPr lang="en-GB" altLang="en-US" sz="2400" dirty="0">
                <a:latin typeface="Aptos Light" panose="020F0502020204030204" pitchFamily="34" charset="0"/>
              </a:rPr>
              <a:t>A single prompt trained on a few examples of “diving” in a specific context (top) tends to overfit to environmental cues like the cliffs and sea. This holistic representation fails to generalize to a novel environment. Our method learns an ensemble of prompts that specialize on the compositional, environment-agnostic sub-events of the action which can generalise to new contexts. Optimal Transport is the key mechanism that enforces this specialization, ensuring the prompts remain diverse and discriminative.</a:t>
            </a:r>
          </a:p>
        </p:txBody>
      </p:sp>
      <p:sp>
        <p:nvSpPr>
          <p:cNvPr id="1079" name="TextBox 1078">
            <a:extLst>
              <a:ext uri="{FF2B5EF4-FFF2-40B4-BE49-F238E27FC236}">
                <a16:creationId xmlns:a16="http://schemas.microsoft.com/office/drawing/2014/main" id="{AB32CE52-5407-9326-0690-AE2D77AF5BDA}"/>
              </a:ext>
            </a:extLst>
          </p:cNvPr>
          <p:cNvSpPr txBox="1"/>
          <p:nvPr/>
        </p:nvSpPr>
        <p:spPr>
          <a:xfrm>
            <a:off x="14040632" y="13717642"/>
            <a:ext cx="7863591" cy="830997"/>
          </a:xfrm>
          <a:prstGeom prst="rect">
            <a:avLst/>
          </a:prstGeom>
          <a:noFill/>
        </p:spPr>
        <p:txBody>
          <a:bodyPr wrap="square">
            <a:spAutoFit/>
          </a:bodyPr>
          <a:lstStyle/>
          <a:p>
            <a:pPr lvl="0" eaLnBrk="0" fontAlgn="base" hangingPunct="0">
              <a:spcBef>
                <a:spcPct val="0"/>
              </a:spcBef>
              <a:spcAft>
                <a:spcPct val="0"/>
              </a:spcAft>
            </a:pPr>
            <a:r>
              <a:rPr lang="en-GB" altLang="en-US" sz="2400" dirty="0">
                <a:latin typeface="Aptos Mono" panose="020B0009020202020204" pitchFamily="49" charset="0"/>
              </a:rPr>
              <a:t>(A-C) </a:t>
            </a:r>
            <a:r>
              <a:rPr lang="en-GB" altLang="en-US" sz="2400" dirty="0">
                <a:latin typeface="Aptos Light" panose="020F0502020204030204" pitchFamily="34" charset="0"/>
              </a:rPr>
              <a:t>We first extract </a:t>
            </a:r>
            <a:r>
              <a:rPr lang="en-GB" altLang="en-US" sz="2400" dirty="0">
                <a:latin typeface="Aptos Mono" panose="020B0009020202020204" pitchFamily="49" charset="0"/>
              </a:rPr>
              <a:t>T</a:t>
            </a:r>
            <a:r>
              <a:rPr lang="en-GB" altLang="en-US" sz="2400" dirty="0">
                <a:latin typeface="Aptos Light" panose="020F0502020204030204" pitchFamily="34" charset="0"/>
              </a:rPr>
              <a:t> frames from a video </a:t>
            </a:r>
            <a:r>
              <a:rPr lang="en-GB" altLang="en-US" sz="2400" i="1" dirty="0">
                <a:latin typeface="Aptos Mono" panose="020B0009020202020204" pitchFamily="49" charset="0"/>
              </a:rPr>
              <a:t>V</a:t>
            </a:r>
            <a:r>
              <a:rPr lang="en-GB" altLang="en-US" sz="2400" dirty="0">
                <a:latin typeface="Aptos Light" panose="020F0502020204030204" pitchFamily="34" charset="0"/>
              </a:rPr>
              <a:t> using a frozen I3D encoder pretrained on Kinetics. </a:t>
            </a:r>
            <a:endParaRPr kumimoji="0" lang="en-US" altLang="en-US" sz="2400" i="0" u="none" strike="noStrike" cap="none" normalizeH="0" baseline="0" dirty="0">
              <a:ln>
                <a:noFill/>
              </a:ln>
              <a:solidFill>
                <a:schemeClr val="tx1"/>
              </a:solidFill>
              <a:effectLst/>
              <a:latin typeface="Aptos Light" panose="020F0502020204030204" pitchFamily="34" charset="0"/>
            </a:endParaRPr>
          </a:p>
        </p:txBody>
      </p:sp>
      <p:sp>
        <p:nvSpPr>
          <p:cNvPr id="1080" name="TextBox 1079">
            <a:extLst>
              <a:ext uri="{FF2B5EF4-FFF2-40B4-BE49-F238E27FC236}">
                <a16:creationId xmlns:a16="http://schemas.microsoft.com/office/drawing/2014/main" id="{429DABBB-0EBE-A445-8178-2CCBF3BC8E46}"/>
              </a:ext>
            </a:extLst>
          </p:cNvPr>
          <p:cNvSpPr txBox="1"/>
          <p:nvPr/>
        </p:nvSpPr>
        <p:spPr>
          <a:xfrm>
            <a:off x="13830552" y="19193220"/>
            <a:ext cx="6838779" cy="1200329"/>
          </a:xfrm>
          <a:prstGeom prst="rect">
            <a:avLst/>
          </a:prstGeom>
          <a:noFill/>
        </p:spPr>
        <p:txBody>
          <a:bodyPr wrap="square">
            <a:spAutoFit/>
          </a:bodyPr>
          <a:lstStyle/>
          <a:p>
            <a:pPr lvl="0" eaLnBrk="0" fontAlgn="base" hangingPunct="0">
              <a:spcBef>
                <a:spcPct val="0"/>
              </a:spcBef>
              <a:spcAft>
                <a:spcPct val="0"/>
              </a:spcAft>
            </a:pPr>
            <a:r>
              <a:rPr lang="en-GB" altLang="en-US" sz="2400" dirty="0">
                <a:latin typeface="Aptos Mono" panose="020B0009020202020204" pitchFamily="49" charset="0"/>
              </a:rPr>
              <a:t>(B) </a:t>
            </a:r>
            <a:r>
              <a:rPr lang="en-GB" altLang="en-US" sz="2400" dirty="0">
                <a:latin typeface="Aptos Light" panose="020F0502020204030204" pitchFamily="34" charset="0"/>
              </a:rPr>
              <a:t>We Initialise </a:t>
            </a:r>
            <a:r>
              <a:rPr lang="en-GB" altLang="en-US" sz="2400" dirty="0">
                <a:latin typeface="Aptos Mono" panose="020B0009020202020204" pitchFamily="49" charset="0"/>
              </a:rPr>
              <a:t>N</a:t>
            </a:r>
            <a:r>
              <a:rPr lang="en-GB" altLang="en-US" sz="2400" dirty="0">
                <a:latin typeface="Aptos Light" panose="020F0502020204030204" pitchFamily="34" charset="0"/>
              </a:rPr>
              <a:t> learnable prompts for each class </a:t>
            </a:r>
            <a:r>
              <a:rPr lang="en-GB" altLang="en-US" sz="2400" dirty="0">
                <a:latin typeface="Aptos Mono" panose="020B0009020202020204" pitchFamily="49" charset="0"/>
              </a:rPr>
              <a:t>K</a:t>
            </a:r>
            <a:r>
              <a:rPr lang="en-GB" altLang="en-US" sz="2400" dirty="0">
                <a:latin typeface="Aptos Light" panose="020F0502020204030204" pitchFamily="34" charset="0"/>
              </a:rPr>
              <a:t>. They are prepended to the prompt and embedded via CLIP. </a:t>
            </a:r>
            <a:endParaRPr kumimoji="0" lang="en-US" altLang="en-US" sz="2400" i="0" u="none" strike="noStrike" cap="none" normalizeH="0" baseline="0" dirty="0">
              <a:ln>
                <a:noFill/>
              </a:ln>
              <a:solidFill>
                <a:schemeClr val="tx1"/>
              </a:solidFill>
              <a:effectLst/>
              <a:latin typeface="Aptos Light" panose="020F0502020204030204" pitchFamily="34" charset="0"/>
            </a:endParaRPr>
          </a:p>
        </p:txBody>
      </p:sp>
      <p:sp>
        <p:nvSpPr>
          <p:cNvPr id="1081" name="TextBox 1080">
            <a:extLst>
              <a:ext uri="{FF2B5EF4-FFF2-40B4-BE49-F238E27FC236}">
                <a16:creationId xmlns:a16="http://schemas.microsoft.com/office/drawing/2014/main" id="{B04B33E7-C0B1-5122-E5D0-3ED9DB29A34E}"/>
              </a:ext>
            </a:extLst>
          </p:cNvPr>
          <p:cNvSpPr txBox="1"/>
          <p:nvPr/>
        </p:nvSpPr>
        <p:spPr>
          <a:xfrm>
            <a:off x="23634775" y="13774293"/>
            <a:ext cx="6838779" cy="830997"/>
          </a:xfrm>
          <a:prstGeom prst="rect">
            <a:avLst/>
          </a:prstGeom>
          <a:noFill/>
        </p:spPr>
        <p:txBody>
          <a:bodyPr wrap="square">
            <a:spAutoFit/>
          </a:bodyPr>
          <a:lstStyle/>
          <a:p>
            <a:pPr lvl="0" eaLnBrk="0" fontAlgn="base" hangingPunct="0">
              <a:spcBef>
                <a:spcPct val="0"/>
              </a:spcBef>
              <a:spcAft>
                <a:spcPct val="0"/>
              </a:spcAft>
            </a:pPr>
            <a:r>
              <a:rPr lang="en-GB" altLang="en-US" sz="2400" dirty="0">
                <a:latin typeface="Aptos Mono" panose="020B0009020202020204" pitchFamily="49" charset="0"/>
              </a:rPr>
              <a:t>(D) </a:t>
            </a:r>
            <a:r>
              <a:rPr lang="en-GB" altLang="en-US" sz="2400" dirty="0">
                <a:latin typeface="Aptos Light" panose="020F0502020204030204" pitchFamily="34" charset="0"/>
              </a:rPr>
              <a:t>A temporal feature pyramid pools features at multiple temporal lengths.</a:t>
            </a:r>
            <a:endParaRPr kumimoji="0" lang="en-US" altLang="en-US" sz="2400" i="0" u="none" strike="noStrike" cap="none" normalizeH="0" baseline="0" dirty="0">
              <a:ln>
                <a:noFill/>
              </a:ln>
              <a:solidFill>
                <a:schemeClr val="tx1"/>
              </a:solidFill>
              <a:effectLst/>
              <a:latin typeface="Aptos Light" panose="020F0502020204030204" pitchFamily="34" charset="0"/>
            </a:endParaRPr>
          </a:p>
        </p:txBody>
      </p:sp>
      <p:sp>
        <p:nvSpPr>
          <p:cNvPr id="1082" name="TextBox 1081">
            <a:extLst>
              <a:ext uri="{FF2B5EF4-FFF2-40B4-BE49-F238E27FC236}">
                <a16:creationId xmlns:a16="http://schemas.microsoft.com/office/drawing/2014/main" id="{5C3EF8CA-B52F-14B4-DE56-2A3161A60E0D}"/>
              </a:ext>
            </a:extLst>
          </p:cNvPr>
          <p:cNvSpPr txBox="1"/>
          <p:nvPr/>
        </p:nvSpPr>
        <p:spPr>
          <a:xfrm>
            <a:off x="26609228" y="15592434"/>
            <a:ext cx="4199018" cy="2308324"/>
          </a:xfrm>
          <a:prstGeom prst="rect">
            <a:avLst/>
          </a:prstGeom>
          <a:noFill/>
        </p:spPr>
        <p:txBody>
          <a:bodyPr wrap="square">
            <a:spAutoFit/>
          </a:bodyPr>
          <a:lstStyle/>
          <a:p>
            <a:pPr lvl="0" eaLnBrk="0" fontAlgn="base" hangingPunct="0">
              <a:spcBef>
                <a:spcPct val="0"/>
              </a:spcBef>
              <a:spcAft>
                <a:spcPct val="0"/>
              </a:spcAft>
            </a:pPr>
            <a:r>
              <a:rPr lang="en-GB" altLang="en-US" sz="2400" dirty="0">
                <a:latin typeface="Aptos Mono" panose="020B0009020202020204" pitchFamily="49" charset="0"/>
              </a:rPr>
              <a:t>(E) </a:t>
            </a:r>
            <a:r>
              <a:rPr lang="en-GB" altLang="en-US" sz="2400" dirty="0">
                <a:latin typeface="Aptos Light" panose="020F0502020204030204" pitchFamily="34" charset="0"/>
              </a:rPr>
              <a:t>The transport plan is fixed and multiplied by the features. We concatenate all temporal layers and perform regression and classification via 1D Convolution and MLP heads. </a:t>
            </a:r>
            <a:endParaRPr kumimoji="0" lang="en-US" altLang="en-US" sz="2400" i="0" u="none" strike="noStrike" cap="none" normalizeH="0" baseline="0" dirty="0">
              <a:ln>
                <a:noFill/>
              </a:ln>
              <a:solidFill>
                <a:schemeClr val="tx1"/>
              </a:solidFill>
              <a:effectLst/>
              <a:latin typeface="Aptos Light" panose="020F0502020204030204" pitchFamily="34" charset="0"/>
            </a:endParaRPr>
          </a:p>
        </p:txBody>
      </p:sp>
      <p:sp>
        <p:nvSpPr>
          <p:cNvPr id="1083" name="TextBox 1082">
            <a:extLst>
              <a:ext uri="{FF2B5EF4-FFF2-40B4-BE49-F238E27FC236}">
                <a16:creationId xmlns:a16="http://schemas.microsoft.com/office/drawing/2014/main" id="{D0498460-C8F5-C52B-18F6-08CF41B4D46D}"/>
              </a:ext>
            </a:extLst>
          </p:cNvPr>
          <p:cNvSpPr txBox="1"/>
          <p:nvPr/>
        </p:nvSpPr>
        <p:spPr>
          <a:xfrm>
            <a:off x="23634774" y="19108325"/>
            <a:ext cx="6838779" cy="1200329"/>
          </a:xfrm>
          <a:prstGeom prst="rect">
            <a:avLst/>
          </a:prstGeom>
          <a:noFill/>
        </p:spPr>
        <p:txBody>
          <a:bodyPr wrap="square">
            <a:spAutoFit/>
          </a:bodyPr>
          <a:lstStyle/>
          <a:p>
            <a:pPr lvl="0" eaLnBrk="0" fontAlgn="base" hangingPunct="0">
              <a:spcBef>
                <a:spcPct val="0"/>
              </a:spcBef>
              <a:spcAft>
                <a:spcPct val="0"/>
              </a:spcAft>
            </a:pPr>
            <a:r>
              <a:rPr lang="en-GB" altLang="en-US" sz="2400" dirty="0">
                <a:latin typeface="Aptos Mono" panose="020B0009020202020204" pitchFamily="49" charset="0"/>
              </a:rPr>
              <a:t>(E) </a:t>
            </a:r>
            <a:r>
              <a:rPr lang="en-GB" altLang="en-US" sz="2400" dirty="0">
                <a:latin typeface="Aptos Light" panose="020F0502020204030204" pitchFamily="34" charset="0"/>
              </a:rPr>
              <a:t>Optimal Transport ensures each prompt corresponds to a unique visual feature at varying temporal resolutions via the transport plan.</a:t>
            </a:r>
            <a:endParaRPr kumimoji="0" lang="en-US" altLang="en-US" sz="2400" i="0" u="none" strike="noStrike" cap="none" normalizeH="0" baseline="0" dirty="0">
              <a:ln>
                <a:noFill/>
              </a:ln>
              <a:solidFill>
                <a:schemeClr val="tx1"/>
              </a:solidFill>
              <a:effectLst/>
              <a:latin typeface="Aptos Light" panose="020F0502020204030204" pitchFamily="34" charset="0"/>
            </a:endParaRPr>
          </a:p>
        </p:txBody>
      </p:sp>
      <p:sp>
        <p:nvSpPr>
          <p:cNvPr id="1090" name="Freeform: Shape 1089">
            <a:extLst>
              <a:ext uri="{FF2B5EF4-FFF2-40B4-BE49-F238E27FC236}">
                <a16:creationId xmlns:a16="http://schemas.microsoft.com/office/drawing/2014/main" id="{D9172F07-06C3-A009-78FF-105107EAC0C8}"/>
              </a:ext>
            </a:extLst>
          </p:cNvPr>
          <p:cNvSpPr/>
          <p:nvPr/>
        </p:nvSpPr>
        <p:spPr>
          <a:xfrm>
            <a:off x="16277530" y="14817624"/>
            <a:ext cx="718149" cy="830997"/>
          </a:xfrm>
          <a:custGeom>
            <a:avLst/>
            <a:gdLst>
              <a:gd name="connsiteX0" fmla="*/ 0 w 1122744"/>
              <a:gd name="connsiteY0" fmla="*/ 0 h 1203767"/>
              <a:gd name="connsiteX1" fmla="*/ 601883 w 1122744"/>
              <a:gd name="connsiteY1" fmla="*/ 868101 h 1203767"/>
              <a:gd name="connsiteX2" fmla="*/ 1122744 w 1122744"/>
              <a:gd name="connsiteY2" fmla="*/ 1203767 h 1203767"/>
            </a:gdLst>
            <a:ahLst/>
            <a:cxnLst>
              <a:cxn ang="0">
                <a:pos x="connsiteX0" y="connsiteY0"/>
              </a:cxn>
              <a:cxn ang="0">
                <a:pos x="connsiteX1" y="connsiteY1"/>
              </a:cxn>
              <a:cxn ang="0">
                <a:pos x="connsiteX2" y="connsiteY2"/>
              </a:cxn>
            </a:cxnLst>
            <a:rect l="l" t="t" r="r" b="b"/>
            <a:pathLst>
              <a:path w="1122744" h="1203767">
                <a:moveTo>
                  <a:pt x="0" y="0"/>
                </a:moveTo>
                <a:cubicBezTo>
                  <a:pt x="207379" y="333736"/>
                  <a:pt x="414759" y="667473"/>
                  <a:pt x="601883" y="868101"/>
                </a:cubicBezTo>
                <a:cubicBezTo>
                  <a:pt x="789007" y="1068729"/>
                  <a:pt x="1051367" y="1170972"/>
                  <a:pt x="1122744" y="1203767"/>
                </a:cubicBez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092" name="Freeform: Shape 1091">
            <a:extLst>
              <a:ext uri="{FF2B5EF4-FFF2-40B4-BE49-F238E27FC236}">
                <a16:creationId xmlns:a16="http://schemas.microsoft.com/office/drawing/2014/main" id="{4C167AD2-5E13-C4B4-7C88-1FD441B554F3}"/>
              </a:ext>
            </a:extLst>
          </p:cNvPr>
          <p:cNvSpPr/>
          <p:nvPr/>
        </p:nvSpPr>
        <p:spPr>
          <a:xfrm>
            <a:off x="16783291" y="18160678"/>
            <a:ext cx="833377" cy="740780"/>
          </a:xfrm>
          <a:custGeom>
            <a:avLst/>
            <a:gdLst>
              <a:gd name="connsiteX0" fmla="*/ 0 w 833377"/>
              <a:gd name="connsiteY0" fmla="*/ 740780 h 740780"/>
              <a:gd name="connsiteX1" fmla="*/ 358815 w 833377"/>
              <a:gd name="connsiteY1" fmla="*/ 127322 h 740780"/>
              <a:gd name="connsiteX2" fmla="*/ 833377 w 833377"/>
              <a:gd name="connsiteY2" fmla="*/ 0 h 740780"/>
              <a:gd name="connsiteX3" fmla="*/ 833377 w 833377"/>
              <a:gd name="connsiteY3" fmla="*/ 0 h 740780"/>
            </a:gdLst>
            <a:ahLst/>
            <a:cxnLst>
              <a:cxn ang="0">
                <a:pos x="connsiteX0" y="connsiteY0"/>
              </a:cxn>
              <a:cxn ang="0">
                <a:pos x="connsiteX1" y="connsiteY1"/>
              </a:cxn>
              <a:cxn ang="0">
                <a:pos x="connsiteX2" y="connsiteY2"/>
              </a:cxn>
              <a:cxn ang="0">
                <a:pos x="connsiteX3" y="connsiteY3"/>
              </a:cxn>
            </a:cxnLst>
            <a:rect l="l" t="t" r="r" b="b"/>
            <a:pathLst>
              <a:path w="833377" h="740780">
                <a:moveTo>
                  <a:pt x="0" y="740780"/>
                </a:moveTo>
                <a:cubicBezTo>
                  <a:pt x="109959" y="495782"/>
                  <a:pt x="219919" y="250785"/>
                  <a:pt x="358815" y="127322"/>
                </a:cubicBezTo>
                <a:cubicBezTo>
                  <a:pt x="497711" y="3859"/>
                  <a:pt x="833377" y="0"/>
                  <a:pt x="833377" y="0"/>
                </a:cubicBezTo>
                <a:lnTo>
                  <a:pt x="833377" y="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093" name="Freeform: Shape 1092">
            <a:extLst>
              <a:ext uri="{FF2B5EF4-FFF2-40B4-BE49-F238E27FC236}">
                <a16:creationId xmlns:a16="http://schemas.microsoft.com/office/drawing/2014/main" id="{8D26F765-B1FF-E1A5-8257-E6DDECF80D56}"/>
              </a:ext>
            </a:extLst>
          </p:cNvPr>
          <p:cNvSpPr/>
          <p:nvPr/>
        </p:nvSpPr>
        <p:spPr>
          <a:xfrm>
            <a:off x="20915453" y="14121114"/>
            <a:ext cx="2488557" cy="451413"/>
          </a:xfrm>
          <a:custGeom>
            <a:avLst/>
            <a:gdLst>
              <a:gd name="connsiteX0" fmla="*/ 2488557 w 2488557"/>
              <a:gd name="connsiteY0" fmla="*/ 0 h 451413"/>
              <a:gd name="connsiteX1" fmla="*/ 509286 w 2488557"/>
              <a:gd name="connsiteY1" fmla="*/ 162045 h 451413"/>
              <a:gd name="connsiteX2" fmla="*/ 0 w 2488557"/>
              <a:gd name="connsiteY2" fmla="*/ 451413 h 451413"/>
            </a:gdLst>
            <a:ahLst/>
            <a:cxnLst>
              <a:cxn ang="0">
                <a:pos x="connsiteX0" y="connsiteY0"/>
              </a:cxn>
              <a:cxn ang="0">
                <a:pos x="connsiteX1" y="connsiteY1"/>
              </a:cxn>
              <a:cxn ang="0">
                <a:pos x="connsiteX2" y="connsiteY2"/>
              </a:cxn>
            </a:cxnLst>
            <a:rect l="l" t="t" r="r" b="b"/>
            <a:pathLst>
              <a:path w="2488557" h="451413">
                <a:moveTo>
                  <a:pt x="2488557" y="0"/>
                </a:moveTo>
                <a:cubicBezTo>
                  <a:pt x="1706301" y="43405"/>
                  <a:pt x="924045" y="86810"/>
                  <a:pt x="509286" y="162045"/>
                </a:cubicBezTo>
                <a:cubicBezTo>
                  <a:pt x="94527" y="237280"/>
                  <a:pt x="47263" y="344346"/>
                  <a:pt x="0" y="451413"/>
                </a:cubicBez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094" name="Freeform: Shape 1093">
            <a:extLst>
              <a:ext uri="{FF2B5EF4-FFF2-40B4-BE49-F238E27FC236}">
                <a16:creationId xmlns:a16="http://schemas.microsoft.com/office/drawing/2014/main" id="{BAC99EFA-9F11-D5CD-1ED9-32BBC55A4006}"/>
              </a:ext>
            </a:extLst>
          </p:cNvPr>
          <p:cNvSpPr/>
          <p:nvPr/>
        </p:nvSpPr>
        <p:spPr>
          <a:xfrm>
            <a:off x="22848388" y="18959332"/>
            <a:ext cx="746966" cy="799239"/>
          </a:xfrm>
          <a:custGeom>
            <a:avLst/>
            <a:gdLst>
              <a:gd name="connsiteX0" fmla="*/ 909012 w 909012"/>
              <a:gd name="connsiteY0" fmla="*/ 787078 h 787078"/>
              <a:gd name="connsiteX1" fmla="*/ 133508 w 909012"/>
              <a:gd name="connsiteY1" fmla="*/ 578734 h 787078"/>
              <a:gd name="connsiteX2" fmla="*/ 6186 w 909012"/>
              <a:gd name="connsiteY2" fmla="*/ 0 h 787078"/>
            </a:gdLst>
            <a:ahLst/>
            <a:cxnLst>
              <a:cxn ang="0">
                <a:pos x="connsiteX0" y="connsiteY0"/>
              </a:cxn>
              <a:cxn ang="0">
                <a:pos x="connsiteX1" y="connsiteY1"/>
              </a:cxn>
              <a:cxn ang="0">
                <a:pos x="connsiteX2" y="connsiteY2"/>
              </a:cxn>
            </a:cxnLst>
            <a:rect l="l" t="t" r="r" b="b"/>
            <a:pathLst>
              <a:path w="909012" h="787078">
                <a:moveTo>
                  <a:pt x="909012" y="787078"/>
                </a:moveTo>
                <a:cubicBezTo>
                  <a:pt x="596495" y="748496"/>
                  <a:pt x="283979" y="709914"/>
                  <a:pt x="133508" y="578734"/>
                </a:cubicBezTo>
                <a:cubicBezTo>
                  <a:pt x="-16963" y="447554"/>
                  <a:pt x="-5389" y="223777"/>
                  <a:pt x="6186" y="0"/>
                </a:cubicBez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095" name="Freeform: Shape 1094">
            <a:extLst>
              <a:ext uri="{FF2B5EF4-FFF2-40B4-BE49-F238E27FC236}">
                <a16:creationId xmlns:a16="http://schemas.microsoft.com/office/drawing/2014/main" id="{E5460957-803F-B210-B210-9C8CEA00A182}"/>
              </a:ext>
            </a:extLst>
          </p:cNvPr>
          <p:cNvSpPr/>
          <p:nvPr/>
        </p:nvSpPr>
        <p:spPr>
          <a:xfrm>
            <a:off x="26343980" y="17917610"/>
            <a:ext cx="1238491" cy="557936"/>
          </a:xfrm>
          <a:custGeom>
            <a:avLst/>
            <a:gdLst>
              <a:gd name="connsiteX0" fmla="*/ 1238491 w 1238491"/>
              <a:gd name="connsiteY0" fmla="*/ 0 h 557936"/>
              <a:gd name="connsiteX1" fmla="*/ 891250 w 1238491"/>
              <a:gd name="connsiteY1" fmla="*/ 555585 h 557936"/>
              <a:gd name="connsiteX2" fmla="*/ 0 w 1238491"/>
              <a:gd name="connsiteY2" fmla="*/ 162046 h 557936"/>
            </a:gdLst>
            <a:ahLst/>
            <a:cxnLst>
              <a:cxn ang="0">
                <a:pos x="connsiteX0" y="connsiteY0"/>
              </a:cxn>
              <a:cxn ang="0">
                <a:pos x="connsiteX1" y="connsiteY1"/>
              </a:cxn>
              <a:cxn ang="0">
                <a:pos x="connsiteX2" y="connsiteY2"/>
              </a:cxn>
            </a:cxnLst>
            <a:rect l="l" t="t" r="r" b="b"/>
            <a:pathLst>
              <a:path w="1238491" h="557936">
                <a:moveTo>
                  <a:pt x="1238491" y="0"/>
                </a:moveTo>
                <a:cubicBezTo>
                  <a:pt x="1168078" y="264288"/>
                  <a:pt x="1097665" y="528577"/>
                  <a:pt x="891250" y="555585"/>
                </a:cubicBezTo>
                <a:cubicBezTo>
                  <a:pt x="684835" y="582593"/>
                  <a:pt x="342417" y="372319"/>
                  <a:pt x="0" y="162046"/>
                </a:cubicBez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096" name="TextBox 1095">
            <a:extLst>
              <a:ext uri="{FF2B5EF4-FFF2-40B4-BE49-F238E27FC236}">
                <a16:creationId xmlns:a16="http://schemas.microsoft.com/office/drawing/2014/main" id="{5E3C95E3-0DF0-070B-2F95-CDCCE9CC3167}"/>
              </a:ext>
            </a:extLst>
          </p:cNvPr>
          <p:cNvSpPr txBox="1"/>
          <p:nvPr/>
        </p:nvSpPr>
        <p:spPr>
          <a:xfrm>
            <a:off x="31580042" y="8741818"/>
            <a:ext cx="5912881" cy="646331"/>
          </a:xfrm>
          <a:prstGeom prst="rect">
            <a:avLst/>
          </a:prstGeom>
          <a:noFill/>
        </p:spPr>
        <p:txBody>
          <a:bodyPr wrap="square">
            <a:spAutoFit/>
          </a:bodyPr>
          <a:lstStyle/>
          <a:p>
            <a:pPr lvl="0" eaLnBrk="0" fontAlgn="base" hangingPunct="0">
              <a:spcBef>
                <a:spcPct val="0"/>
              </a:spcBef>
              <a:spcAft>
                <a:spcPct val="0"/>
              </a:spcAft>
            </a:pPr>
            <a:r>
              <a:rPr lang="en-GB" altLang="en-US" dirty="0">
                <a:latin typeface="Aptos Light" panose="020F0502020204030204" pitchFamily="34" charset="0"/>
              </a:rPr>
              <a:t>Results on THUMOS compared to existing few-shot approaches.</a:t>
            </a:r>
          </a:p>
        </p:txBody>
      </p:sp>
      <p:sp>
        <p:nvSpPr>
          <p:cNvPr id="1098" name="TextBox 1097">
            <a:extLst>
              <a:ext uri="{FF2B5EF4-FFF2-40B4-BE49-F238E27FC236}">
                <a16:creationId xmlns:a16="http://schemas.microsoft.com/office/drawing/2014/main" id="{EDBA041E-1085-F83C-64D3-37429B693206}"/>
              </a:ext>
            </a:extLst>
          </p:cNvPr>
          <p:cNvSpPr txBox="1"/>
          <p:nvPr/>
        </p:nvSpPr>
        <p:spPr>
          <a:xfrm>
            <a:off x="37513611" y="8665208"/>
            <a:ext cx="5912881" cy="646331"/>
          </a:xfrm>
          <a:prstGeom prst="rect">
            <a:avLst/>
          </a:prstGeom>
          <a:noFill/>
        </p:spPr>
        <p:txBody>
          <a:bodyPr wrap="square">
            <a:spAutoFit/>
          </a:bodyPr>
          <a:lstStyle/>
          <a:p>
            <a:pPr lvl="0" eaLnBrk="0" fontAlgn="base" hangingPunct="0">
              <a:spcBef>
                <a:spcPct val="0"/>
              </a:spcBef>
              <a:spcAft>
                <a:spcPct val="0"/>
              </a:spcAft>
            </a:pPr>
            <a:r>
              <a:rPr lang="en-GB" altLang="en-US" dirty="0">
                <a:latin typeface="Aptos Light" panose="020F0502020204030204" pitchFamily="34" charset="0"/>
              </a:rPr>
              <a:t>Performance over increasing number of training samples per class.</a:t>
            </a:r>
          </a:p>
        </p:txBody>
      </p:sp>
      <p:sp>
        <p:nvSpPr>
          <p:cNvPr id="1099" name="TextBox 1098">
            <a:extLst>
              <a:ext uri="{FF2B5EF4-FFF2-40B4-BE49-F238E27FC236}">
                <a16:creationId xmlns:a16="http://schemas.microsoft.com/office/drawing/2014/main" id="{45D81966-AC01-4000-479A-FE761BD644EE}"/>
              </a:ext>
            </a:extLst>
          </p:cNvPr>
          <p:cNvSpPr txBox="1"/>
          <p:nvPr/>
        </p:nvSpPr>
        <p:spPr>
          <a:xfrm>
            <a:off x="31556176" y="11957562"/>
            <a:ext cx="11688841" cy="369332"/>
          </a:xfrm>
          <a:prstGeom prst="rect">
            <a:avLst/>
          </a:prstGeom>
          <a:noFill/>
        </p:spPr>
        <p:txBody>
          <a:bodyPr wrap="square">
            <a:spAutoFit/>
          </a:bodyPr>
          <a:lstStyle/>
          <a:p>
            <a:pPr lvl="0" eaLnBrk="0" fontAlgn="base" hangingPunct="0">
              <a:spcBef>
                <a:spcPct val="0"/>
              </a:spcBef>
              <a:spcAft>
                <a:spcPct val="0"/>
              </a:spcAft>
            </a:pPr>
            <a:r>
              <a:rPr lang="en-GB" altLang="en-US" dirty="0">
                <a:latin typeface="Aptos Light" panose="020F0502020204030204" pitchFamily="34" charset="0"/>
              </a:rPr>
              <a:t>Results on  Epic Kitchens against simpler single prompt learning (</a:t>
            </a:r>
            <a:r>
              <a:rPr lang="en-GB" altLang="en-US" dirty="0" err="1">
                <a:latin typeface="Aptos Light" panose="020F0502020204030204" pitchFamily="34" charset="0"/>
              </a:rPr>
              <a:t>CoOp</a:t>
            </a:r>
            <a:r>
              <a:rPr lang="en-GB" altLang="en-US" dirty="0">
                <a:latin typeface="Aptos Light" panose="020F0502020204030204" pitchFamily="34" charset="0"/>
              </a:rPr>
              <a:t>) and averaging prompt features. </a:t>
            </a:r>
          </a:p>
        </p:txBody>
      </p:sp>
      <p:sp>
        <p:nvSpPr>
          <p:cNvPr id="1100" name="TextBox 1099">
            <a:extLst>
              <a:ext uri="{FF2B5EF4-FFF2-40B4-BE49-F238E27FC236}">
                <a16:creationId xmlns:a16="http://schemas.microsoft.com/office/drawing/2014/main" id="{B654AC5C-6AC7-A96E-D1D3-C8F4AFB8DBCC}"/>
              </a:ext>
            </a:extLst>
          </p:cNvPr>
          <p:cNvSpPr txBox="1"/>
          <p:nvPr/>
        </p:nvSpPr>
        <p:spPr>
          <a:xfrm>
            <a:off x="31556177" y="12561460"/>
            <a:ext cx="12142395" cy="646331"/>
          </a:xfrm>
          <a:prstGeom prst="rect">
            <a:avLst/>
          </a:prstGeom>
          <a:solidFill>
            <a:srgbClr val="B22F5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GB" sz="3600" dirty="0">
                <a:latin typeface="Aptos Mono" panose="020B0009020202020204" pitchFamily="49" charset="0"/>
              </a:rPr>
              <a:t>Ablations</a:t>
            </a:r>
          </a:p>
        </p:txBody>
      </p:sp>
      <p:sp>
        <p:nvSpPr>
          <p:cNvPr id="1101" name="TextBox 1100">
            <a:extLst>
              <a:ext uri="{FF2B5EF4-FFF2-40B4-BE49-F238E27FC236}">
                <a16:creationId xmlns:a16="http://schemas.microsoft.com/office/drawing/2014/main" id="{6373BA9F-477E-65C5-D798-23399A83F882}"/>
              </a:ext>
            </a:extLst>
          </p:cNvPr>
          <p:cNvSpPr txBox="1"/>
          <p:nvPr/>
        </p:nvSpPr>
        <p:spPr>
          <a:xfrm>
            <a:off x="31550279" y="16358746"/>
            <a:ext cx="6034250" cy="646331"/>
          </a:xfrm>
          <a:prstGeom prst="rect">
            <a:avLst/>
          </a:prstGeom>
          <a:noFill/>
        </p:spPr>
        <p:txBody>
          <a:bodyPr wrap="square">
            <a:spAutoFit/>
          </a:bodyPr>
          <a:lstStyle/>
          <a:p>
            <a:pPr lvl="0" eaLnBrk="0" fontAlgn="base" hangingPunct="0">
              <a:spcBef>
                <a:spcPct val="0"/>
              </a:spcBef>
              <a:spcAft>
                <a:spcPct val="0"/>
              </a:spcAft>
            </a:pPr>
            <a:r>
              <a:rPr lang="en-GB" altLang="en-US" dirty="0">
                <a:latin typeface="Aptos Light" panose="020F0502020204030204" pitchFamily="34" charset="0"/>
              </a:rPr>
              <a:t>Effect of varying number of learnable context prompts per class on THUMOS dataset.</a:t>
            </a:r>
          </a:p>
        </p:txBody>
      </p:sp>
      <p:sp>
        <p:nvSpPr>
          <p:cNvPr id="1102" name="TextBox 1101">
            <a:extLst>
              <a:ext uri="{FF2B5EF4-FFF2-40B4-BE49-F238E27FC236}">
                <a16:creationId xmlns:a16="http://schemas.microsoft.com/office/drawing/2014/main" id="{971BA7DD-74A5-E8B2-E5E2-5FC0D994E782}"/>
              </a:ext>
            </a:extLst>
          </p:cNvPr>
          <p:cNvSpPr txBox="1"/>
          <p:nvPr/>
        </p:nvSpPr>
        <p:spPr>
          <a:xfrm>
            <a:off x="38194174" y="16332883"/>
            <a:ext cx="5415871" cy="646331"/>
          </a:xfrm>
          <a:prstGeom prst="rect">
            <a:avLst/>
          </a:prstGeom>
          <a:noFill/>
        </p:spPr>
        <p:txBody>
          <a:bodyPr wrap="square">
            <a:spAutoFit/>
          </a:bodyPr>
          <a:lstStyle/>
          <a:p>
            <a:pPr lvl="0" eaLnBrk="0" fontAlgn="base" hangingPunct="0">
              <a:spcBef>
                <a:spcPct val="0"/>
              </a:spcBef>
              <a:spcAft>
                <a:spcPct val="0"/>
              </a:spcAft>
            </a:pPr>
            <a:r>
              <a:rPr lang="en-GB" altLang="en-US" dirty="0">
                <a:latin typeface="Aptos Light" panose="020F0502020204030204" pitchFamily="34" charset="0"/>
              </a:rPr>
              <a:t>Effect of changing the number of temporal down sampling steps in the Feature Pyramid Network.</a:t>
            </a:r>
          </a:p>
        </p:txBody>
      </p:sp>
      <p:sp>
        <p:nvSpPr>
          <p:cNvPr id="1103" name="TextBox 1102">
            <a:extLst>
              <a:ext uri="{FF2B5EF4-FFF2-40B4-BE49-F238E27FC236}">
                <a16:creationId xmlns:a16="http://schemas.microsoft.com/office/drawing/2014/main" id="{0C18C91C-962C-B5EF-B975-C258C8F047EC}"/>
              </a:ext>
            </a:extLst>
          </p:cNvPr>
          <p:cNvSpPr txBox="1"/>
          <p:nvPr/>
        </p:nvSpPr>
        <p:spPr>
          <a:xfrm>
            <a:off x="31561505" y="19808469"/>
            <a:ext cx="8939035" cy="646331"/>
          </a:xfrm>
          <a:prstGeom prst="rect">
            <a:avLst/>
          </a:prstGeom>
          <a:noFill/>
        </p:spPr>
        <p:txBody>
          <a:bodyPr wrap="square">
            <a:spAutoFit/>
          </a:bodyPr>
          <a:lstStyle/>
          <a:p>
            <a:pPr lvl="0" eaLnBrk="0" fontAlgn="base" hangingPunct="0">
              <a:spcBef>
                <a:spcPct val="0"/>
              </a:spcBef>
              <a:spcAft>
                <a:spcPct val="0"/>
              </a:spcAft>
            </a:pPr>
            <a:r>
              <a:rPr lang="en-GB" altLang="en-US" dirty="0">
                <a:latin typeface="Aptos Light" panose="020F0502020204030204" pitchFamily="34" charset="0"/>
              </a:rPr>
              <a:t>Results with alternative vision encoders. We find that I3D including both Optical Flow and RGB is more effective than the CLIP visual embeddings.</a:t>
            </a:r>
          </a:p>
        </p:txBody>
      </p:sp>
      <p:sp>
        <p:nvSpPr>
          <p:cNvPr id="1106" name="TextBox 1105">
            <a:extLst>
              <a:ext uri="{FF2B5EF4-FFF2-40B4-BE49-F238E27FC236}">
                <a16:creationId xmlns:a16="http://schemas.microsoft.com/office/drawing/2014/main" id="{FBD71D80-DDA2-E38A-A27E-CA5D2EEF066B}"/>
              </a:ext>
            </a:extLst>
          </p:cNvPr>
          <p:cNvSpPr txBox="1"/>
          <p:nvPr/>
        </p:nvSpPr>
        <p:spPr>
          <a:xfrm>
            <a:off x="277910" y="9566427"/>
            <a:ext cx="12057514" cy="2677656"/>
          </a:xfrm>
          <a:prstGeom prst="rect">
            <a:avLst/>
          </a:prstGeom>
          <a:noFill/>
        </p:spPr>
        <p:txBody>
          <a:bodyPr wrap="square">
            <a:spAutoFit/>
          </a:bodyPr>
          <a:lstStyle/>
          <a:p>
            <a:pPr lvl="0" eaLnBrk="0" fontAlgn="base" hangingPunct="0">
              <a:spcBef>
                <a:spcPct val="0"/>
              </a:spcBef>
              <a:spcAft>
                <a:spcPct val="0"/>
              </a:spcAft>
            </a:pPr>
            <a:r>
              <a:rPr lang="en-US" altLang="en-US" sz="2400" b="1" dirty="0">
                <a:latin typeface="Aptos Mono" panose="020B0009020202020204" pitchFamily="49" charset="0"/>
              </a:rPr>
              <a:t>Our Solution: </a:t>
            </a:r>
          </a:p>
          <a:p>
            <a:pPr lvl="0" eaLnBrk="0" fontAlgn="base" hangingPunct="0">
              <a:spcBef>
                <a:spcPct val="0"/>
              </a:spcBef>
              <a:spcAft>
                <a:spcPct val="0"/>
              </a:spcAft>
            </a:pPr>
            <a:r>
              <a:rPr lang="en-GB" altLang="en-US" sz="2400" dirty="0">
                <a:latin typeface="Aptos Light" panose="020F0502020204030204" pitchFamily="34" charset="0"/>
              </a:rPr>
              <a:t>In PLOT-TAL, we represent each action class with a number of learnable prompts. Each prompt is encouraged to become a "specialist" on a distinct sub-event of the action. We use Optimal Transport (OT) as a structural </a:t>
            </a:r>
            <a:r>
              <a:rPr lang="en-GB" altLang="en-US" sz="2400" dirty="0" err="1">
                <a:latin typeface="Aptos Light" panose="020F0502020204030204" pitchFamily="34" charset="0"/>
              </a:rPr>
              <a:t>regularizer</a:t>
            </a:r>
            <a:r>
              <a:rPr lang="en-GB" altLang="en-US" sz="2400" dirty="0">
                <a:latin typeface="Aptos Light" panose="020F0502020204030204" pitchFamily="34" charset="0"/>
              </a:rPr>
              <a:t> to find the most efficient alignment between the prompts and the video's features, forcing the prompts to specialize and remain diverse, thus preventing them from all learning the same redundant information which may not generalise to new contexts.</a:t>
            </a:r>
            <a:endParaRPr kumimoji="0" lang="en-US" altLang="en-US" sz="2400" i="0" u="none" strike="noStrike" cap="none" normalizeH="0" baseline="0" dirty="0">
              <a:ln>
                <a:noFill/>
              </a:ln>
              <a:solidFill>
                <a:schemeClr val="tx1"/>
              </a:solidFill>
              <a:effectLst/>
              <a:latin typeface="Aptos Light" panose="020F0502020204030204" pitchFamily="34" charset="0"/>
            </a:endParaRPr>
          </a:p>
        </p:txBody>
      </p:sp>
      <p:sp>
        <p:nvSpPr>
          <p:cNvPr id="1107" name="TextBox 1106">
            <a:extLst>
              <a:ext uri="{FF2B5EF4-FFF2-40B4-BE49-F238E27FC236}">
                <a16:creationId xmlns:a16="http://schemas.microsoft.com/office/drawing/2014/main" id="{B3295735-56ED-EB15-E25C-83CB05AD7619}"/>
              </a:ext>
            </a:extLst>
          </p:cNvPr>
          <p:cNvSpPr txBox="1"/>
          <p:nvPr/>
        </p:nvSpPr>
        <p:spPr>
          <a:xfrm>
            <a:off x="277910" y="12520576"/>
            <a:ext cx="12130343" cy="646331"/>
          </a:xfrm>
          <a:prstGeom prst="rect">
            <a:avLst/>
          </a:prstGeom>
          <a:solidFill>
            <a:srgbClr val="B22F5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GB" sz="3600" dirty="0">
                <a:latin typeface="Aptos Mono" panose="020B0009020202020204" pitchFamily="49" charset="0"/>
              </a:rPr>
              <a:t>Qualitative Results</a:t>
            </a:r>
          </a:p>
        </p:txBody>
      </p:sp>
      <p:pic>
        <p:nvPicPr>
          <p:cNvPr id="1109" name="Picture 1108" descr="A qr code with a white background&#10;&#10;AI-generated content may be incorrect.">
            <a:extLst>
              <a:ext uri="{FF2B5EF4-FFF2-40B4-BE49-F238E27FC236}">
                <a16:creationId xmlns:a16="http://schemas.microsoft.com/office/drawing/2014/main" id="{7C59F2AD-A491-9AF5-E4A1-2672B3CBFAC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71543" y="264926"/>
            <a:ext cx="2857500" cy="3552825"/>
          </a:xfrm>
          <a:prstGeom prst="rect">
            <a:avLst/>
          </a:prstGeom>
        </p:spPr>
      </p:pic>
      <p:sp>
        <p:nvSpPr>
          <p:cNvPr id="1110" name="TextBox 1109">
            <a:extLst>
              <a:ext uri="{FF2B5EF4-FFF2-40B4-BE49-F238E27FC236}">
                <a16:creationId xmlns:a16="http://schemas.microsoft.com/office/drawing/2014/main" id="{66AC9A67-67C5-9D40-AC56-B968EB992632}"/>
              </a:ext>
            </a:extLst>
          </p:cNvPr>
          <p:cNvSpPr txBox="1"/>
          <p:nvPr/>
        </p:nvSpPr>
        <p:spPr>
          <a:xfrm>
            <a:off x="657454" y="3033143"/>
            <a:ext cx="2378041" cy="64633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GB" sz="3600" dirty="0">
                <a:latin typeface="Aptos Mono" panose="020B0009020202020204" pitchFamily="49" charset="0"/>
              </a:rPr>
              <a:t>Paper </a:t>
            </a:r>
          </a:p>
        </p:txBody>
      </p:sp>
      <p:pic>
        <p:nvPicPr>
          <p:cNvPr id="1113" name="Graphic 1112">
            <a:extLst>
              <a:ext uri="{FF2B5EF4-FFF2-40B4-BE49-F238E27FC236}">
                <a16:creationId xmlns:a16="http://schemas.microsoft.com/office/drawing/2014/main" id="{7482D3BA-5430-1415-BF09-1BE590D3D03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3591499" y="5638566"/>
            <a:ext cx="17136459" cy="517159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b902693-1074-40aa-9e21-d89446a2ebb5}" enabled="0" method="" siteId="{6b902693-1074-40aa-9e21-d89446a2ebb5}" removed="1"/>
</clbl:labelList>
</file>

<file path=docProps/app.xml><?xml version="1.0" encoding="utf-8"?>
<Properties xmlns="http://schemas.openxmlformats.org/officeDocument/2006/extended-properties" xmlns:vt="http://schemas.openxmlformats.org/officeDocument/2006/docPropsVTypes">
  <Template>Integral</Template>
  <TotalTime>435</TotalTime>
  <Words>586</Words>
  <Application>Microsoft Office PowerPoint</Application>
  <PresentationFormat>Custom</PresentationFormat>
  <Paragraphs>33</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Aptos Light</vt:lpstr>
      <vt:lpstr>Aptos Mono</vt:lpstr>
      <vt:lpstr>Arial</vt:lpstr>
      <vt:lpstr>Calibri</vt:lpstr>
      <vt:lpstr>Times New Roman</vt:lpstr>
      <vt:lpstr>Wingdings</vt:lpstr>
      <vt:lpstr>Office Theme</vt:lpstr>
      <vt:lpstr>PowerPoint Presentation</vt:lpstr>
    </vt:vector>
  </TitlesOfParts>
  <Company>Univ. of Colorado at Colorado Springs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title here:  Maybe add some pictures and/or school logo on the left and right authors and affiliation</dc:title>
  <dc:subject/>
  <dc:creator>Terry Boult</dc:creator>
  <dc:description/>
  <cp:lastModifiedBy>Fish, Edward Dr (Comp Sci &amp; Elec Eng)</cp:lastModifiedBy>
  <cp:revision>64</cp:revision>
  <dcterms:created xsi:type="dcterms:W3CDTF">2014-05-29T01:41:03Z</dcterms:created>
  <dcterms:modified xsi:type="dcterms:W3CDTF">2025-10-13T20:30:18Z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Univ. of Colorado at Colorado Springs</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1</vt:i4>
  </property>
  <property fmtid="{D5CDD505-2E9C-101B-9397-08002B2CF9AE}" pid="9" name="PresentationFormat">
    <vt:lpwstr>Custom</vt:lpwstr>
  </property>
  <property fmtid="{D5CDD505-2E9C-101B-9397-08002B2CF9AE}" pid="10" name="ScaleCrop">
    <vt:bool>false</vt:bool>
  </property>
  <property fmtid="{D5CDD505-2E9C-101B-9397-08002B2CF9AE}" pid="11" name="ShareDoc">
    <vt:bool>false</vt:bool>
  </property>
  <property fmtid="{D5CDD505-2E9C-101B-9397-08002B2CF9AE}" pid="12" name="Slides">
    <vt:i4>2</vt:i4>
  </property>
</Properties>
</file>